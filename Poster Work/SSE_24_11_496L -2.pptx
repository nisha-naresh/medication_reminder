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459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51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5CD"/>
    <a:srgbClr val="FCDCBF"/>
    <a:srgbClr val="BFE7FF"/>
    <a:srgbClr val="FFCFE7"/>
    <a:srgbClr val="FED67F"/>
    <a:srgbClr val="5F5F5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913" autoAdjust="0"/>
    <p:restoredTop sz="94660"/>
  </p:normalViewPr>
  <p:slideViewPr>
    <p:cSldViewPr snapToGrid="0">
      <p:cViewPr>
        <p:scale>
          <a:sx n="10" d="100"/>
          <a:sy n="10" d="100"/>
        </p:scale>
        <p:origin x="2837" y="850"/>
      </p:cViewPr>
      <p:guideLst>
        <p:guide orient="horz" pos="10368"/>
        <p:guide pos="51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45"/>
            <a:ext cx="13990320" cy="11460480"/>
          </a:xfrm>
        </p:spPr>
        <p:txBody>
          <a:bodyPr anchor="b"/>
          <a:lstStyle>
            <a:lvl1pPr algn="ctr"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0"/>
            </a:lvl1pPr>
            <a:lvl2pPr marL="822960" indent="0" algn="ctr">
              <a:buNone/>
              <a:defRPr sz="3600"/>
            </a:lvl2pPr>
            <a:lvl3pPr marL="1645920" indent="0" algn="ctr">
              <a:buNone/>
              <a:defRPr sz="3240"/>
            </a:lvl3pPr>
            <a:lvl4pPr marL="2468880" indent="0" algn="ctr">
              <a:buNone/>
              <a:defRPr sz="2880"/>
            </a:lvl4pPr>
            <a:lvl5pPr marL="3291840" indent="0" algn="ctr">
              <a:buNone/>
              <a:defRPr sz="2880"/>
            </a:lvl5pPr>
            <a:lvl6pPr marL="4114800" indent="0" algn="ctr">
              <a:buNone/>
              <a:defRPr sz="2880"/>
            </a:lvl6pPr>
            <a:lvl7pPr marL="4937760" indent="0" algn="ctr">
              <a:buNone/>
              <a:defRPr sz="2880"/>
            </a:lvl7pPr>
            <a:lvl8pPr marL="5760720" indent="0" algn="ctr">
              <a:buNone/>
              <a:defRPr sz="2880"/>
            </a:lvl8pPr>
            <a:lvl9pPr marL="6583680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0">
                <a:solidFill>
                  <a:schemeClr val="tx1"/>
                </a:solidFill>
              </a:defRPr>
            </a:lvl1pPr>
            <a:lvl2pPr marL="82296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645920" indent="0">
              <a:buNone/>
              <a:defRPr sz="3240">
                <a:solidFill>
                  <a:schemeClr val="tx1">
                    <a:tint val="75000"/>
                  </a:schemeClr>
                </a:solidFill>
              </a:defRPr>
            </a:lvl3pPr>
            <a:lvl4pPr marL="246888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18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480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776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072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368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0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0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3"/>
            <a:ext cx="6963012" cy="3954780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3"/>
            <a:ext cx="6997304" cy="3954780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64"/>
            <a:ext cx="5308520" cy="7680961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0"/>
            </a:lvl1pPr>
            <a:lvl2pPr>
              <a:defRPr sz="5040"/>
            </a:lvl2pPr>
            <a:lvl3pPr>
              <a:defRPr sz="432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64"/>
            <a:ext cx="5308520" cy="7680961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0"/>
            </a:lvl1pPr>
            <a:lvl2pPr marL="822960" indent="0">
              <a:buNone/>
              <a:defRPr sz="5040"/>
            </a:lvl2pPr>
            <a:lvl3pPr marL="1645920" indent="0">
              <a:buNone/>
              <a:defRPr sz="4320"/>
            </a:lvl3pPr>
            <a:lvl4pPr marL="2468880" indent="0">
              <a:buNone/>
              <a:defRPr sz="3600"/>
            </a:lvl4pPr>
            <a:lvl5pPr marL="3291840" indent="0">
              <a:buNone/>
              <a:defRPr sz="3600"/>
            </a:lvl5pPr>
            <a:lvl6pPr marL="4114800" indent="0">
              <a:buNone/>
              <a:defRPr sz="3600"/>
            </a:lvl6pPr>
            <a:lvl7pPr marL="4937760" indent="0">
              <a:buNone/>
              <a:defRPr sz="3600"/>
            </a:lvl7pPr>
            <a:lvl8pPr marL="5760720" indent="0">
              <a:buNone/>
              <a:defRPr sz="3600"/>
            </a:lvl8pPr>
            <a:lvl9pPr marL="6583680" indent="0">
              <a:buNone/>
              <a:defRPr sz="3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0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2" y="175260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0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49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49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49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45920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64592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0574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70332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52628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53492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61722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9951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2pPr>
      <a:lvl3pPr marL="16459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3pPr>
      <a:lvl4pPr marL="24688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11480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49377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57607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5836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016856"/>
            <a:ext cx="16459200" cy="6104233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10107388"/>
            <a:ext cx="16459200" cy="5824475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15942479"/>
            <a:ext cx="16459200" cy="6237014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0" y="22179493"/>
            <a:ext cx="16459200" cy="5378473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0" y="27557966"/>
            <a:ext cx="16459200" cy="5360433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87036" y="4399143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" y="2730019"/>
            <a:ext cx="16459200" cy="139777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87036" y="16251380"/>
            <a:ext cx="1879889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036" y="22386831"/>
            <a:ext cx="590896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7036" y="27911837"/>
            <a:ext cx="3022889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" y="2851422"/>
            <a:ext cx="16389450" cy="1194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Intrusion System Detection System Using Novel Random Forest Compared to Decision Tree</a:t>
            </a:r>
            <a:endParaRPr lang="en-US" sz="3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7036" y="10269290"/>
            <a:ext cx="518506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183" y="4932210"/>
            <a:ext cx="10166571" cy="4473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9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IDS monitors network traffic, detecting and alerting on potential security breaches via analysis of abnormal behavior.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analyzes network activity to distinguish between legitimate and malicious behavior, primarily focusing on detecting and alerting potential security breaches.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uses ensemble learning, optimization algorithms, and advanced machine learning techniques to boost performance.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utilize Novel Random Forests and deep neural networks to boost IDS accuracy, facing challenges of false alarms and adaptation to diverse network environments.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931" y="10869196"/>
            <a:ext cx="16095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89865" y="17152620"/>
            <a:ext cx="9453880" cy="4885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Random Forest exhibits higher average accuracy (94.90%) compared to Decision Tree (93.72%) in the study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confirms Novel Random Forest's accuracy superiority over Decision Tree, supported by independent sample T-test.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9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Novel Random Forest outperforms Decision Tree in handling large datasets with higher accuracy.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19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9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enhances robustness by reducing overfitting through ensemble learning</a:t>
            </a:r>
            <a:endParaRPr 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34315" y="23105110"/>
            <a:ext cx="15829915" cy="4324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The study proposes an effective Intrusion Detection System  by selecting significant features from the NSL-KDD dataset using a classification system derived from Novel Random Forest , aiming to reduce learning time and memory required.</a:t>
            </a:r>
          </a:p>
          <a:p>
            <a:pPr marL="342900" indent="-342900" fontAlgn="auto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US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auto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Strategy: Utilizing selective multinomial Naive Bayes and filtering experiments, the paper offers a network IDS approach, demonstrating efficiency and low positive error rates.</a:t>
            </a:r>
          </a:p>
          <a:p>
            <a:pPr marL="342900" indent="-342900" fontAlgn="auto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US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auto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examines how deep learning, used in safety-critical contexts, faces challenges from adversarial examples, reviewing discovery, generation, and classification methods.</a:t>
            </a:r>
          </a:p>
          <a:p>
            <a:pPr marL="342900" indent="-342900" fontAlgn="auto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US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auto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Random Forest surpasses Decision Tree in accuracy (94.90% vs. 93.72%), despite longer training time, with Decision Trees suggested for mitigating uncommon system traffic patterns.</a:t>
            </a:r>
            <a:endParaRPr 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89634" y="28737183"/>
            <a:ext cx="16188244" cy="312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19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Ahmim</a:t>
            </a: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(n.d.) : Hierarchical IDS based on Random Forest and rules.</a:t>
            </a:r>
          </a:p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19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Alamiedy</a:t>
            </a: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(2020)**: Anomaly-based IDS using Grey Wolf Optimization.</a:t>
            </a:r>
          </a:p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19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Besharati</a:t>
            </a: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(2018): LR-HIDS for cloud environments.</a:t>
            </a:r>
          </a:p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 et al. (2021) : Intrusion detection model based on bagged tree classifiers.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19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Chittora</a:t>
            </a: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(2022) : Experimental analysis of earthquake prediction using ML classifiers.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285" y="17047016"/>
            <a:ext cx="6535062" cy="388674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6459200" cy="27089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08" y="233306"/>
            <a:ext cx="15939003" cy="214284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34747" y="1416090"/>
            <a:ext cx="82296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Mr. S. Lakshmikanth             </a:t>
            </a:r>
          </a:p>
          <a:p>
            <a:pPr algn="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no: 192011496L</a:t>
            </a:r>
          </a:p>
          <a:p>
            <a:pPr algn="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 Dr. T. Suresh Balakrishnan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060" y="4149090"/>
            <a:ext cx="5899785" cy="4425315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419100" y="11202670"/>
            <a:ext cx="15630525" cy="3533140"/>
            <a:chOff x="660" y="17642"/>
            <a:chExt cx="24615" cy="5564"/>
          </a:xfrm>
        </p:grpSpPr>
        <p:sp>
          <p:nvSpPr>
            <p:cNvPr id="11" name="Rectangles 10"/>
            <p:cNvSpPr/>
            <p:nvPr/>
          </p:nvSpPr>
          <p:spPr>
            <a:xfrm>
              <a:off x="660" y="17642"/>
              <a:ext cx="3350" cy="207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altLang="en-US" sz="219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Collection</a:t>
              </a:r>
            </a:p>
          </p:txBody>
        </p:sp>
        <p:sp>
          <p:nvSpPr>
            <p:cNvPr id="12" name="Rectangles 11"/>
            <p:cNvSpPr/>
            <p:nvPr/>
          </p:nvSpPr>
          <p:spPr>
            <a:xfrm>
              <a:off x="1995" y="21131"/>
              <a:ext cx="3350" cy="207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altLang="en-US" sz="219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Preprocessing</a:t>
              </a:r>
            </a:p>
          </p:txBody>
        </p:sp>
        <p:sp>
          <p:nvSpPr>
            <p:cNvPr id="13" name="Rectangles 12"/>
            <p:cNvSpPr/>
            <p:nvPr/>
          </p:nvSpPr>
          <p:spPr>
            <a:xfrm>
              <a:off x="6500" y="17862"/>
              <a:ext cx="3350" cy="2511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altLang="en-US" sz="219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Selection</a:t>
              </a:r>
            </a:p>
          </p:txBody>
        </p:sp>
        <p:sp>
          <p:nvSpPr>
            <p:cNvPr id="14" name="Can 13"/>
            <p:cNvSpPr/>
            <p:nvPr/>
          </p:nvSpPr>
          <p:spPr>
            <a:xfrm>
              <a:off x="11879" y="19311"/>
              <a:ext cx="2325" cy="2575"/>
            </a:xfrm>
            <a:prstGeom prst="can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altLang="en-US" sz="219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Training</a:t>
              </a:r>
            </a:p>
          </p:txBody>
        </p:sp>
        <p:sp>
          <p:nvSpPr>
            <p:cNvPr id="16" name="Can 15"/>
            <p:cNvSpPr/>
            <p:nvPr/>
          </p:nvSpPr>
          <p:spPr>
            <a:xfrm>
              <a:off x="16233" y="19312"/>
              <a:ext cx="3924" cy="2478"/>
            </a:xfrm>
            <a:prstGeom prst="can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altLang="en-US" sz="219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Testing</a:t>
              </a:r>
            </a:p>
          </p:txBody>
        </p:sp>
        <p:sp>
          <p:nvSpPr>
            <p:cNvPr id="18" name="Rectangles 17"/>
            <p:cNvSpPr/>
            <p:nvPr/>
          </p:nvSpPr>
          <p:spPr>
            <a:xfrm>
              <a:off x="21925" y="19604"/>
              <a:ext cx="3350" cy="207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altLang="en-US" sz="219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Evaluation</a:t>
              </a:r>
            </a:p>
          </p:txBody>
        </p:sp>
        <p:sp>
          <p:nvSpPr>
            <p:cNvPr id="27" name="Down Arrow 26"/>
            <p:cNvSpPr/>
            <p:nvPr/>
          </p:nvSpPr>
          <p:spPr>
            <a:xfrm>
              <a:off x="2345" y="19906"/>
              <a:ext cx="719" cy="1036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Bent-Up Arrow 29"/>
            <p:cNvSpPr/>
            <p:nvPr/>
          </p:nvSpPr>
          <p:spPr>
            <a:xfrm>
              <a:off x="5693" y="20754"/>
              <a:ext cx="2675" cy="1375"/>
            </a:xfrm>
            <a:prstGeom prst="bentUp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ight Arrow 31"/>
            <p:cNvSpPr/>
            <p:nvPr/>
          </p:nvSpPr>
          <p:spPr>
            <a:xfrm>
              <a:off x="14693" y="20429"/>
              <a:ext cx="1225" cy="7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ight Arrow 33"/>
            <p:cNvSpPr/>
            <p:nvPr/>
          </p:nvSpPr>
          <p:spPr>
            <a:xfrm>
              <a:off x="20603" y="20454"/>
              <a:ext cx="1225" cy="7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flipV="1">
              <a:off x="10342" y="18217"/>
              <a:ext cx="3051" cy="930"/>
            </a:xfrm>
            <a:custGeom>
              <a:avLst/>
              <a:gdLst>
                <a:gd name="connsiteX0" fmla="*/ 0 w 3300"/>
                <a:gd name="connsiteY0" fmla="*/ 1219 h 1625"/>
                <a:gd name="connsiteX1" fmla="*/ 2725 w 3300"/>
                <a:gd name="connsiteY1" fmla="*/ 1225 h 1625"/>
                <a:gd name="connsiteX2" fmla="*/ 2691 w 3300"/>
                <a:gd name="connsiteY2" fmla="*/ 406 h 1625"/>
                <a:gd name="connsiteX3" fmla="*/ 2488 w 3300"/>
                <a:gd name="connsiteY3" fmla="*/ 406 h 1625"/>
                <a:gd name="connsiteX4" fmla="*/ 2894 w 3300"/>
                <a:gd name="connsiteY4" fmla="*/ 0 h 1625"/>
                <a:gd name="connsiteX5" fmla="*/ 3300 w 3300"/>
                <a:gd name="connsiteY5" fmla="*/ 406 h 1625"/>
                <a:gd name="connsiteX6" fmla="*/ 3097 w 3300"/>
                <a:gd name="connsiteY6" fmla="*/ 406 h 1625"/>
                <a:gd name="connsiteX7" fmla="*/ 3097 w 3300"/>
                <a:gd name="connsiteY7" fmla="*/ 1625 h 1625"/>
                <a:gd name="connsiteX8" fmla="*/ 0 w 3300"/>
                <a:gd name="connsiteY8" fmla="*/ 1625 h 1625"/>
                <a:gd name="connsiteX9" fmla="*/ 0 w 3300"/>
                <a:gd name="connsiteY9" fmla="*/ 1219 h 1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00" h="1625">
                  <a:moveTo>
                    <a:pt x="0" y="1219"/>
                  </a:moveTo>
                  <a:lnTo>
                    <a:pt x="2725" y="1225"/>
                  </a:lnTo>
                  <a:lnTo>
                    <a:pt x="2691" y="406"/>
                  </a:lnTo>
                  <a:lnTo>
                    <a:pt x="2488" y="406"/>
                  </a:lnTo>
                  <a:lnTo>
                    <a:pt x="2894" y="0"/>
                  </a:lnTo>
                  <a:lnTo>
                    <a:pt x="3300" y="406"/>
                  </a:lnTo>
                  <a:lnTo>
                    <a:pt x="3097" y="406"/>
                  </a:lnTo>
                  <a:lnTo>
                    <a:pt x="3097" y="1625"/>
                  </a:lnTo>
                  <a:lnTo>
                    <a:pt x="0" y="1625"/>
                  </a:lnTo>
                  <a:lnTo>
                    <a:pt x="0" y="1219"/>
                  </a:lnTo>
                  <a:close/>
                </a:path>
              </a:pathLst>
            </a:cu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 Box 40"/>
          <p:cNvSpPr txBox="1"/>
          <p:nvPr/>
        </p:nvSpPr>
        <p:spPr>
          <a:xfrm>
            <a:off x="11266805" y="9111615"/>
            <a:ext cx="4699000" cy="42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2185">
                <a:latin typeface="Times New Roman" panose="02020603050405020304" pitchFamily="18" charset="0"/>
                <a:cs typeface="Times New Roman" panose="02020603050405020304" pitchFamily="18" charset="0"/>
              </a:rPr>
              <a:t>Fig 1. Decision Tree</a:t>
            </a:r>
          </a:p>
        </p:txBody>
      </p:sp>
      <p:sp>
        <p:nvSpPr>
          <p:cNvPr id="42" name="Text Box 41"/>
          <p:cNvSpPr txBox="1"/>
          <p:nvPr/>
        </p:nvSpPr>
        <p:spPr>
          <a:xfrm>
            <a:off x="10307955" y="21377910"/>
            <a:ext cx="4699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Fig 2. Analysis for Random Forest and Decision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418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Lakshmikanth S</cp:lastModifiedBy>
  <cp:revision>36</cp:revision>
  <dcterms:created xsi:type="dcterms:W3CDTF">2023-04-19T08:35:00Z</dcterms:created>
  <dcterms:modified xsi:type="dcterms:W3CDTF">2024-04-15T08:42:03Z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991F8958195F4AB2B9CAB2137D0D4000_12</vt:lpwstr>
  </property>
  <property fmtid="{D5CDD505-2E9C-101B-9397-08002B2CF9AE}" pid="3" name="KSOProductBuildVer">
    <vt:lpwstr>1033-12.2.0.13489</vt:lpwstr>
  </property>
</Properties>
</file>