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1599525"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0318" userDrawn="1">
          <p15:clr>
            <a:srgbClr val="A4A3A4"/>
          </p15:clr>
        </p15:guide>
        <p15:guide id="2" pos="6741" userDrawn="1">
          <p15:clr>
            <a:srgbClr val="A4A3A4"/>
          </p15:clr>
        </p15:guide>
        <p15:guide id="3" orient="horz"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showGuides="1">
      <p:cViewPr>
        <p:scale>
          <a:sx n="50" d="100"/>
          <a:sy n="50" d="100"/>
        </p:scale>
        <p:origin x="-336" y="6672"/>
      </p:cViewPr>
      <p:guideLst>
        <p:guide orient="horz" pos="10318"/>
        <p:guide orient="horz" pos="10368"/>
        <p:guide pos="6741"/>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87343"/>
            <a:ext cx="18359596" cy="11460480"/>
          </a:xfrm>
        </p:spPr>
        <p:txBody>
          <a:bodyPr anchor="b"/>
          <a:lstStyle>
            <a:lvl1pPr algn="ctr">
              <a:defRPr sz="14175"/>
            </a:lvl1pPr>
          </a:lstStyle>
          <a:p>
            <a:r>
              <a:rPr lang="en-US"/>
              <a:t>Click to edit Master title style</a:t>
            </a:r>
            <a:endParaRPr lang="en-US" dirty="0"/>
          </a:p>
        </p:txBody>
      </p:sp>
      <p:sp>
        <p:nvSpPr>
          <p:cNvPr id="3" name="Subtitle 2"/>
          <p:cNvSpPr>
            <a:spLocks noGrp="1"/>
          </p:cNvSpPr>
          <p:nvPr>
            <p:ph type="subTitle" idx="1"/>
          </p:nvPr>
        </p:nvSpPr>
        <p:spPr>
          <a:xfrm>
            <a:off x="2699941" y="17289782"/>
            <a:ext cx="16199644" cy="7947658"/>
          </a:xfrm>
        </p:spPr>
        <p:txBody>
          <a:bodyPr/>
          <a:lstStyle>
            <a:lvl1pPr marL="0" indent="0" algn="ctr">
              <a:buNone/>
              <a:defRPr sz="5670"/>
            </a:lvl1pPr>
            <a:lvl2pPr marL="1080135" indent="0" algn="ctr">
              <a:buNone/>
              <a:defRPr sz="4725"/>
            </a:lvl2pPr>
            <a:lvl3pPr marL="2160270" indent="0" algn="ctr">
              <a:buNone/>
              <a:defRPr sz="4250"/>
            </a:lvl3pPr>
            <a:lvl4pPr marL="3239770" indent="0" algn="ctr">
              <a:buNone/>
              <a:defRPr sz="3780"/>
            </a:lvl4pPr>
            <a:lvl5pPr marL="4319905" indent="0" algn="ctr">
              <a:buNone/>
              <a:defRPr sz="3780"/>
            </a:lvl5pPr>
            <a:lvl6pPr marL="5400040" indent="0" algn="ctr">
              <a:buNone/>
              <a:defRPr sz="3780"/>
            </a:lvl6pPr>
            <a:lvl7pPr marL="6480175" indent="0" algn="ctr">
              <a:buNone/>
              <a:defRPr sz="3780"/>
            </a:lvl7pPr>
            <a:lvl8pPr marL="7559675" indent="0" algn="ctr">
              <a:buNone/>
              <a:defRPr sz="3780"/>
            </a:lvl8pPr>
            <a:lvl9pPr marL="8639810"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206749"/>
            <a:ext cx="18629590" cy="13693138"/>
          </a:xfrm>
        </p:spPr>
        <p:txBody>
          <a:bodyPr anchor="b"/>
          <a:lstStyle>
            <a:lvl1pPr>
              <a:defRPr sz="14175"/>
            </a:lvl1pPr>
          </a:lstStyle>
          <a:p>
            <a:r>
              <a:rPr lang="en-US"/>
              <a:t>Click to edit Master title style</a:t>
            </a:r>
            <a:endParaRPr lang="en-US" dirty="0"/>
          </a:p>
        </p:txBody>
      </p:sp>
      <p:sp>
        <p:nvSpPr>
          <p:cNvPr id="3" name="Text Placeholder 2"/>
          <p:cNvSpPr>
            <a:spLocks noGrp="1"/>
          </p:cNvSpPr>
          <p:nvPr>
            <p:ph type="body" idx="1"/>
          </p:nvPr>
        </p:nvSpPr>
        <p:spPr>
          <a:xfrm>
            <a:off x="1473719" y="22029430"/>
            <a:ext cx="18629590" cy="7200898"/>
          </a:xfrm>
        </p:spPr>
        <p:txBody>
          <a:bodyPr/>
          <a:lstStyle>
            <a:lvl1pPr marL="0" indent="0">
              <a:buNone/>
              <a:defRPr sz="5670">
                <a:solidFill>
                  <a:schemeClr val="tx1"/>
                </a:solidFill>
              </a:defRPr>
            </a:lvl1pPr>
            <a:lvl2pPr marL="1080135" indent="0">
              <a:buNone/>
              <a:defRPr sz="4725">
                <a:solidFill>
                  <a:schemeClr val="tx1">
                    <a:tint val="75000"/>
                  </a:schemeClr>
                </a:solidFill>
              </a:defRPr>
            </a:lvl2pPr>
            <a:lvl3pPr marL="2160270" indent="0">
              <a:buNone/>
              <a:defRPr sz="4250">
                <a:solidFill>
                  <a:schemeClr val="tx1">
                    <a:tint val="75000"/>
                  </a:schemeClr>
                </a:solidFill>
              </a:defRPr>
            </a:lvl3pPr>
            <a:lvl4pPr marL="3239770" indent="0">
              <a:buNone/>
              <a:defRPr sz="3780">
                <a:solidFill>
                  <a:schemeClr val="tx1">
                    <a:tint val="75000"/>
                  </a:schemeClr>
                </a:solidFill>
              </a:defRPr>
            </a:lvl4pPr>
            <a:lvl5pPr marL="4319905" indent="0">
              <a:buNone/>
              <a:defRPr sz="3780">
                <a:solidFill>
                  <a:schemeClr val="tx1">
                    <a:tint val="75000"/>
                  </a:schemeClr>
                </a:solidFill>
              </a:defRPr>
            </a:lvl5pPr>
            <a:lvl6pPr marL="5400040" indent="0">
              <a:buNone/>
              <a:defRPr sz="3780">
                <a:solidFill>
                  <a:schemeClr val="tx1">
                    <a:tint val="75000"/>
                  </a:schemeClr>
                </a:solidFill>
              </a:defRPr>
            </a:lvl6pPr>
            <a:lvl7pPr marL="6480175" indent="0">
              <a:buNone/>
              <a:defRPr sz="3780">
                <a:solidFill>
                  <a:schemeClr val="tx1">
                    <a:tint val="75000"/>
                  </a:schemeClr>
                </a:solidFill>
              </a:defRPr>
            </a:lvl7pPr>
            <a:lvl8pPr marL="7559675" indent="0">
              <a:buNone/>
              <a:defRPr sz="3780">
                <a:solidFill>
                  <a:schemeClr val="tx1">
                    <a:tint val="75000"/>
                  </a:schemeClr>
                </a:solidFill>
              </a:defRPr>
            </a:lvl8pPr>
            <a:lvl9pPr marL="8639810"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63001"/>
            <a:ext cx="9179798"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63001"/>
            <a:ext cx="9179798"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52607"/>
            <a:ext cx="1862959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69582"/>
            <a:ext cx="9137610" cy="3954778"/>
          </a:xfrm>
        </p:spPr>
        <p:txBody>
          <a:bodyPr anchor="b"/>
          <a:lstStyle>
            <a:lvl1pPr marL="0" indent="0">
              <a:buNone/>
              <a:defRPr sz="5670" b="1"/>
            </a:lvl1pPr>
            <a:lvl2pPr marL="1080135" indent="0">
              <a:buNone/>
              <a:defRPr sz="4725" b="1"/>
            </a:lvl2pPr>
            <a:lvl3pPr marL="2160270" indent="0">
              <a:buNone/>
              <a:defRPr sz="4250" b="1"/>
            </a:lvl3pPr>
            <a:lvl4pPr marL="3239770" indent="0">
              <a:buNone/>
              <a:defRPr sz="3780" b="1"/>
            </a:lvl4pPr>
            <a:lvl5pPr marL="4319905" indent="0">
              <a:buNone/>
              <a:defRPr sz="3780" b="1"/>
            </a:lvl5pPr>
            <a:lvl6pPr marL="5400040" indent="0">
              <a:buNone/>
              <a:defRPr sz="3780" b="1"/>
            </a:lvl6pPr>
            <a:lvl7pPr marL="6480175" indent="0">
              <a:buNone/>
              <a:defRPr sz="3780" b="1"/>
            </a:lvl7pPr>
            <a:lvl8pPr marL="7559675" indent="0">
              <a:buNone/>
              <a:defRPr sz="3780" b="1"/>
            </a:lvl8pPr>
            <a:lvl9pPr marL="8639810" indent="0">
              <a:buNone/>
              <a:defRPr sz="3780" b="1"/>
            </a:lvl9pPr>
          </a:lstStyle>
          <a:p>
            <a:pPr lvl="0"/>
            <a:r>
              <a:rPr lang="en-US"/>
              <a:t>Edit Master text styles</a:t>
            </a:r>
          </a:p>
        </p:txBody>
      </p:sp>
      <p:sp>
        <p:nvSpPr>
          <p:cNvPr id="4" name="Content Placeholder 3"/>
          <p:cNvSpPr>
            <a:spLocks noGrp="1"/>
          </p:cNvSpPr>
          <p:nvPr>
            <p:ph sz="half" idx="2"/>
          </p:nvPr>
        </p:nvSpPr>
        <p:spPr>
          <a:xfrm>
            <a:off x="1487783" y="12024361"/>
            <a:ext cx="9137610"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2" y="8069582"/>
            <a:ext cx="9182611" cy="3954778"/>
          </a:xfrm>
        </p:spPr>
        <p:txBody>
          <a:bodyPr anchor="b"/>
          <a:lstStyle>
            <a:lvl1pPr marL="0" indent="0">
              <a:buNone/>
              <a:defRPr sz="5670" b="1"/>
            </a:lvl1pPr>
            <a:lvl2pPr marL="1080135" indent="0">
              <a:buNone/>
              <a:defRPr sz="4725" b="1"/>
            </a:lvl2pPr>
            <a:lvl3pPr marL="2160270" indent="0">
              <a:buNone/>
              <a:defRPr sz="4250" b="1"/>
            </a:lvl3pPr>
            <a:lvl4pPr marL="3239770" indent="0">
              <a:buNone/>
              <a:defRPr sz="3780" b="1"/>
            </a:lvl4pPr>
            <a:lvl5pPr marL="4319905" indent="0">
              <a:buNone/>
              <a:defRPr sz="3780" b="1"/>
            </a:lvl5pPr>
            <a:lvl6pPr marL="5400040" indent="0">
              <a:buNone/>
              <a:defRPr sz="3780" b="1"/>
            </a:lvl6pPr>
            <a:lvl7pPr marL="6480175" indent="0">
              <a:buNone/>
              <a:defRPr sz="3780" b="1"/>
            </a:lvl7pPr>
            <a:lvl8pPr marL="7559675" indent="0">
              <a:buNone/>
              <a:defRPr sz="3780" b="1"/>
            </a:lvl8pPr>
            <a:lvl9pPr marL="8639810" indent="0">
              <a:buNone/>
              <a:defRPr sz="3780" b="1"/>
            </a:lvl9pPr>
          </a:lstStyle>
          <a:p>
            <a:pPr lvl="0"/>
            <a:r>
              <a:rPr lang="en-US"/>
              <a:t>Edit Master text styles</a:t>
            </a:r>
          </a:p>
        </p:txBody>
      </p:sp>
      <p:sp>
        <p:nvSpPr>
          <p:cNvPr id="6" name="Content Placeholder 5"/>
          <p:cNvSpPr>
            <a:spLocks noGrp="1"/>
          </p:cNvSpPr>
          <p:nvPr>
            <p:ph sz="quarter" idx="4"/>
          </p:nvPr>
        </p:nvSpPr>
        <p:spPr>
          <a:xfrm>
            <a:off x="10934762" y="12024361"/>
            <a:ext cx="9182611"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2" y="2194560"/>
            <a:ext cx="6966409" cy="7680960"/>
          </a:xfrm>
        </p:spPr>
        <p:txBody>
          <a:bodyPr anchor="b"/>
          <a:lstStyle>
            <a:lvl1pPr>
              <a:defRPr sz="7560"/>
            </a:lvl1pPr>
          </a:lstStyle>
          <a:p>
            <a:r>
              <a:rPr lang="en-US"/>
              <a:t>Click to edit Master title style</a:t>
            </a:r>
            <a:endParaRPr lang="en-US" dirty="0"/>
          </a:p>
        </p:txBody>
      </p:sp>
      <p:sp>
        <p:nvSpPr>
          <p:cNvPr id="3" name="Content Placeholder 2"/>
          <p:cNvSpPr>
            <a:spLocks noGrp="1"/>
          </p:cNvSpPr>
          <p:nvPr>
            <p:ph idx="1"/>
          </p:nvPr>
        </p:nvSpPr>
        <p:spPr>
          <a:xfrm>
            <a:off x="9182611" y="4739648"/>
            <a:ext cx="10934760" cy="23393400"/>
          </a:xfrm>
        </p:spPr>
        <p:txBody>
          <a:bodyPr/>
          <a:lstStyle>
            <a:lvl1pPr>
              <a:defRPr sz="7560"/>
            </a:lvl1pPr>
            <a:lvl2pPr>
              <a:defRPr sz="6615"/>
            </a:lvl2pPr>
            <a:lvl3pPr>
              <a:defRPr sz="5670"/>
            </a:lvl3pPr>
            <a:lvl4pPr>
              <a:defRPr sz="4725"/>
            </a:lvl4pPr>
            <a:lvl5pPr>
              <a:defRPr sz="4725"/>
            </a:lvl5pPr>
            <a:lvl6pPr>
              <a:defRPr sz="4725"/>
            </a:lvl6pPr>
            <a:lvl7pPr>
              <a:defRPr sz="4725"/>
            </a:lvl7pPr>
            <a:lvl8pPr>
              <a:defRPr sz="4725"/>
            </a:lvl8pPr>
            <a:lvl9pPr>
              <a:defRPr sz="472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2" y="9875521"/>
            <a:ext cx="6966409" cy="18295622"/>
          </a:xfrm>
        </p:spPr>
        <p:txBody>
          <a:bodyPr/>
          <a:lstStyle>
            <a:lvl1pPr marL="0" indent="0">
              <a:buNone/>
              <a:defRPr sz="3780"/>
            </a:lvl1pPr>
            <a:lvl2pPr marL="1080135" indent="0">
              <a:buNone/>
              <a:defRPr sz="3305"/>
            </a:lvl2pPr>
            <a:lvl3pPr marL="2160270" indent="0">
              <a:buNone/>
              <a:defRPr sz="2835"/>
            </a:lvl3pPr>
            <a:lvl4pPr marL="3239770" indent="0">
              <a:buNone/>
              <a:defRPr sz="2360"/>
            </a:lvl4pPr>
            <a:lvl5pPr marL="4319905" indent="0">
              <a:buNone/>
              <a:defRPr sz="2360"/>
            </a:lvl5pPr>
            <a:lvl6pPr marL="5400040" indent="0">
              <a:buNone/>
              <a:defRPr sz="2360"/>
            </a:lvl6pPr>
            <a:lvl7pPr marL="6480175" indent="0">
              <a:buNone/>
              <a:defRPr sz="2360"/>
            </a:lvl7pPr>
            <a:lvl8pPr marL="7559675" indent="0">
              <a:buNone/>
              <a:defRPr sz="2360"/>
            </a:lvl8pPr>
            <a:lvl9pPr marL="8639810" indent="0">
              <a:buNone/>
              <a:defRPr sz="2360"/>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2" y="2194560"/>
            <a:ext cx="6966409" cy="7680960"/>
          </a:xfrm>
        </p:spPr>
        <p:txBody>
          <a:bodyPr anchor="b"/>
          <a:lstStyle>
            <a:lvl1pPr>
              <a:defRPr sz="756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39648"/>
            <a:ext cx="10934760" cy="23393400"/>
          </a:xfrm>
        </p:spPr>
        <p:txBody>
          <a:bodyPr anchor="t"/>
          <a:lstStyle>
            <a:lvl1pPr marL="0" indent="0">
              <a:buNone/>
              <a:defRPr sz="7560"/>
            </a:lvl1pPr>
            <a:lvl2pPr marL="1080135" indent="0">
              <a:buNone/>
              <a:defRPr sz="6615"/>
            </a:lvl2pPr>
            <a:lvl3pPr marL="2160270" indent="0">
              <a:buNone/>
              <a:defRPr sz="5670"/>
            </a:lvl3pPr>
            <a:lvl4pPr marL="3239770" indent="0">
              <a:buNone/>
              <a:defRPr sz="4725"/>
            </a:lvl4pPr>
            <a:lvl5pPr marL="4319905" indent="0">
              <a:buNone/>
              <a:defRPr sz="4725"/>
            </a:lvl5pPr>
            <a:lvl6pPr marL="5400040" indent="0">
              <a:buNone/>
              <a:defRPr sz="4725"/>
            </a:lvl6pPr>
            <a:lvl7pPr marL="6480175" indent="0">
              <a:buNone/>
              <a:defRPr sz="4725"/>
            </a:lvl7pPr>
            <a:lvl8pPr marL="7559675" indent="0">
              <a:buNone/>
              <a:defRPr sz="4725"/>
            </a:lvl8pPr>
            <a:lvl9pPr marL="8639810" indent="0">
              <a:buNone/>
              <a:defRPr sz="4725"/>
            </a:lvl9pPr>
          </a:lstStyle>
          <a:p>
            <a:r>
              <a:rPr lang="en-US" dirty="0"/>
              <a:t>Click icon to add picture</a:t>
            </a:r>
          </a:p>
        </p:txBody>
      </p:sp>
      <p:sp>
        <p:nvSpPr>
          <p:cNvPr id="4" name="Text Placeholder 3"/>
          <p:cNvSpPr>
            <a:spLocks noGrp="1"/>
          </p:cNvSpPr>
          <p:nvPr>
            <p:ph type="body" sz="half" idx="2"/>
          </p:nvPr>
        </p:nvSpPr>
        <p:spPr>
          <a:xfrm>
            <a:off x="1487782" y="9875521"/>
            <a:ext cx="6966409" cy="18295622"/>
          </a:xfrm>
        </p:spPr>
        <p:txBody>
          <a:bodyPr/>
          <a:lstStyle>
            <a:lvl1pPr marL="0" indent="0">
              <a:buNone/>
              <a:defRPr sz="3780"/>
            </a:lvl1pPr>
            <a:lvl2pPr marL="1080135" indent="0">
              <a:buNone/>
              <a:defRPr sz="3305"/>
            </a:lvl2pPr>
            <a:lvl3pPr marL="2160270" indent="0">
              <a:buNone/>
              <a:defRPr sz="2835"/>
            </a:lvl3pPr>
            <a:lvl4pPr marL="3239770" indent="0">
              <a:buNone/>
              <a:defRPr sz="2360"/>
            </a:lvl4pPr>
            <a:lvl5pPr marL="4319905" indent="0">
              <a:buNone/>
              <a:defRPr sz="2360"/>
            </a:lvl5pPr>
            <a:lvl6pPr marL="5400040" indent="0">
              <a:buNone/>
              <a:defRPr sz="2360"/>
            </a:lvl6pPr>
            <a:lvl7pPr marL="6480175" indent="0">
              <a:buNone/>
              <a:defRPr sz="2360"/>
            </a:lvl7pPr>
            <a:lvl8pPr marL="7559675" indent="0">
              <a:buNone/>
              <a:defRPr sz="2360"/>
            </a:lvl8pPr>
            <a:lvl9pPr marL="8639810" indent="0">
              <a:buNone/>
              <a:defRPr sz="2360"/>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52601"/>
            <a:ext cx="4657398"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9" y="1752601"/>
            <a:ext cx="13702199"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52607"/>
            <a:ext cx="1862959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63001"/>
            <a:ext cx="1862959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8" y="30510487"/>
            <a:ext cx="4859893" cy="1752600"/>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3"/>
          </p:nvPr>
        </p:nvSpPr>
        <p:spPr>
          <a:xfrm>
            <a:off x="7154843" y="30510487"/>
            <a:ext cx="7289840" cy="1752600"/>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254666" y="30510487"/>
            <a:ext cx="4859893" cy="1752600"/>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160270" rtl="0" eaLnBrk="1" latinLnBrk="0" hangingPunct="1">
        <a:lnSpc>
          <a:spcPct val="90000"/>
        </a:lnSpc>
        <a:spcBef>
          <a:spcPct val="0"/>
        </a:spcBef>
        <a:buNone/>
        <a:defRPr sz="10395" kern="1200">
          <a:solidFill>
            <a:schemeClr val="tx1"/>
          </a:solidFill>
          <a:latin typeface="+mj-lt"/>
          <a:ea typeface="+mj-ea"/>
          <a:cs typeface="+mj-cs"/>
        </a:defRPr>
      </a:lvl1pPr>
    </p:titleStyle>
    <p:bodyStyle>
      <a:lvl1pPr marL="539750" indent="-539750" algn="l" defTabSz="2160270" rtl="0" eaLnBrk="1" latinLnBrk="0" hangingPunct="1">
        <a:lnSpc>
          <a:spcPct val="90000"/>
        </a:lnSpc>
        <a:spcBef>
          <a:spcPts val="2360"/>
        </a:spcBef>
        <a:buFont typeface="Arial" panose="020B0604020202020204" pitchFamily="34" charset="0"/>
        <a:buChar char="•"/>
        <a:defRPr sz="6615" kern="1200">
          <a:solidFill>
            <a:schemeClr val="tx1"/>
          </a:solidFill>
          <a:latin typeface="+mn-lt"/>
          <a:ea typeface="+mn-ea"/>
          <a:cs typeface="+mn-cs"/>
        </a:defRPr>
      </a:lvl1pPr>
      <a:lvl2pPr marL="1619885" indent="-539750" algn="l" defTabSz="2160270" rtl="0" eaLnBrk="1" latinLnBrk="0" hangingPunct="1">
        <a:lnSpc>
          <a:spcPct val="90000"/>
        </a:lnSpc>
        <a:spcBef>
          <a:spcPts val="1180"/>
        </a:spcBef>
        <a:buFont typeface="Arial" panose="020B0604020202020204" pitchFamily="34" charset="0"/>
        <a:buChar char="•"/>
        <a:defRPr sz="5670" kern="1200">
          <a:solidFill>
            <a:schemeClr val="tx1"/>
          </a:solidFill>
          <a:latin typeface="+mn-lt"/>
          <a:ea typeface="+mn-ea"/>
          <a:cs typeface="+mn-cs"/>
        </a:defRPr>
      </a:lvl2pPr>
      <a:lvl3pPr marL="2700020" indent="-539750" algn="l" defTabSz="2160270" rtl="0" eaLnBrk="1" latinLnBrk="0" hangingPunct="1">
        <a:lnSpc>
          <a:spcPct val="90000"/>
        </a:lnSpc>
        <a:spcBef>
          <a:spcPts val="1180"/>
        </a:spcBef>
        <a:buFont typeface="Arial" panose="020B0604020202020204" pitchFamily="34" charset="0"/>
        <a:buChar char="•"/>
        <a:defRPr sz="4725" kern="1200">
          <a:solidFill>
            <a:schemeClr val="tx1"/>
          </a:solidFill>
          <a:latin typeface="+mn-lt"/>
          <a:ea typeface="+mn-ea"/>
          <a:cs typeface="+mn-cs"/>
        </a:defRPr>
      </a:lvl3pPr>
      <a:lvl4pPr marL="3780155"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4pPr>
      <a:lvl5pPr marL="4860290"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5pPr>
      <a:lvl6pPr marL="5939790"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6pPr>
      <a:lvl7pPr marL="7019925"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7pPr>
      <a:lvl8pPr marL="8100060"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8pPr>
      <a:lvl9pPr marL="9180195"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9pPr>
    </p:bodyStyle>
    <p:otherStyle>
      <a:defPPr>
        <a:defRPr lang="en-US"/>
      </a:defPPr>
      <a:lvl1pPr marL="0" algn="l" defTabSz="2160270" rtl="0" eaLnBrk="1" latinLnBrk="0" hangingPunct="1">
        <a:defRPr sz="4250" kern="1200">
          <a:solidFill>
            <a:schemeClr val="tx1"/>
          </a:solidFill>
          <a:latin typeface="+mn-lt"/>
          <a:ea typeface="+mn-ea"/>
          <a:cs typeface="+mn-cs"/>
        </a:defRPr>
      </a:lvl1pPr>
      <a:lvl2pPr marL="1080135" algn="l" defTabSz="2160270" rtl="0" eaLnBrk="1" latinLnBrk="0" hangingPunct="1">
        <a:defRPr sz="4250" kern="1200">
          <a:solidFill>
            <a:schemeClr val="tx1"/>
          </a:solidFill>
          <a:latin typeface="+mn-lt"/>
          <a:ea typeface="+mn-ea"/>
          <a:cs typeface="+mn-cs"/>
        </a:defRPr>
      </a:lvl2pPr>
      <a:lvl3pPr marL="2160270" algn="l" defTabSz="2160270" rtl="0" eaLnBrk="1" latinLnBrk="0" hangingPunct="1">
        <a:defRPr sz="4250" kern="1200">
          <a:solidFill>
            <a:schemeClr val="tx1"/>
          </a:solidFill>
          <a:latin typeface="+mn-lt"/>
          <a:ea typeface="+mn-ea"/>
          <a:cs typeface="+mn-cs"/>
        </a:defRPr>
      </a:lvl3pPr>
      <a:lvl4pPr marL="3239770" algn="l" defTabSz="2160270" rtl="0" eaLnBrk="1" latinLnBrk="0" hangingPunct="1">
        <a:defRPr sz="4250" kern="1200">
          <a:solidFill>
            <a:schemeClr val="tx1"/>
          </a:solidFill>
          <a:latin typeface="+mn-lt"/>
          <a:ea typeface="+mn-ea"/>
          <a:cs typeface="+mn-cs"/>
        </a:defRPr>
      </a:lvl4pPr>
      <a:lvl5pPr marL="4319905" algn="l" defTabSz="2160270" rtl="0" eaLnBrk="1" latinLnBrk="0" hangingPunct="1">
        <a:defRPr sz="4250" kern="1200">
          <a:solidFill>
            <a:schemeClr val="tx1"/>
          </a:solidFill>
          <a:latin typeface="+mn-lt"/>
          <a:ea typeface="+mn-ea"/>
          <a:cs typeface="+mn-cs"/>
        </a:defRPr>
      </a:lvl5pPr>
      <a:lvl6pPr marL="5400040" algn="l" defTabSz="2160270" rtl="0" eaLnBrk="1" latinLnBrk="0" hangingPunct="1">
        <a:defRPr sz="4250" kern="1200">
          <a:solidFill>
            <a:schemeClr val="tx1"/>
          </a:solidFill>
          <a:latin typeface="+mn-lt"/>
          <a:ea typeface="+mn-ea"/>
          <a:cs typeface="+mn-cs"/>
        </a:defRPr>
      </a:lvl6pPr>
      <a:lvl7pPr marL="6480175" algn="l" defTabSz="2160270" rtl="0" eaLnBrk="1" latinLnBrk="0" hangingPunct="1">
        <a:defRPr sz="4250" kern="1200">
          <a:solidFill>
            <a:schemeClr val="tx1"/>
          </a:solidFill>
          <a:latin typeface="+mn-lt"/>
          <a:ea typeface="+mn-ea"/>
          <a:cs typeface="+mn-cs"/>
        </a:defRPr>
      </a:lvl7pPr>
      <a:lvl8pPr marL="7559675" algn="l" defTabSz="2160270" rtl="0" eaLnBrk="1" latinLnBrk="0" hangingPunct="1">
        <a:defRPr sz="4250" kern="1200">
          <a:solidFill>
            <a:schemeClr val="tx1"/>
          </a:solidFill>
          <a:latin typeface="+mn-lt"/>
          <a:ea typeface="+mn-ea"/>
          <a:cs typeface="+mn-cs"/>
        </a:defRPr>
      </a:lvl8pPr>
      <a:lvl9pPr marL="8639810" algn="l" defTabSz="2160270" rtl="0" eaLnBrk="1" latinLnBrk="0" hangingPunct="1">
        <a:defRPr sz="42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3997464"/>
            <a:ext cx="21599525" cy="6104233"/>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6" name="Rectangle 5"/>
          <p:cNvSpPr/>
          <p:nvPr/>
        </p:nvSpPr>
        <p:spPr>
          <a:xfrm>
            <a:off x="-1" y="15804515"/>
            <a:ext cx="21599525" cy="6314440"/>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r>
              <a:rPr lang="en-IN" altLang="en-US" sz="2000" dirty="0"/>
              <a:t>v</a:t>
            </a:r>
          </a:p>
        </p:txBody>
      </p:sp>
      <p:sp>
        <p:nvSpPr>
          <p:cNvPr id="7" name="Rectangle 6"/>
          <p:cNvSpPr/>
          <p:nvPr/>
        </p:nvSpPr>
        <p:spPr>
          <a:xfrm>
            <a:off x="0" y="22074505"/>
            <a:ext cx="21599525" cy="5378450"/>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8" name="Rectangle 7"/>
          <p:cNvSpPr/>
          <p:nvPr/>
        </p:nvSpPr>
        <p:spPr>
          <a:xfrm>
            <a:off x="-8251" y="27416760"/>
            <a:ext cx="21607776" cy="5668010"/>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19" name="Rectangle 18"/>
          <p:cNvSpPr/>
          <p:nvPr/>
        </p:nvSpPr>
        <p:spPr>
          <a:xfrm>
            <a:off x="316189" y="4123863"/>
            <a:ext cx="3189012"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INTRODUCTION</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1" y="2534810"/>
            <a:ext cx="21568555" cy="1509993"/>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22" name="Rectangle 21"/>
          <p:cNvSpPr/>
          <p:nvPr/>
        </p:nvSpPr>
        <p:spPr>
          <a:xfrm>
            <a:off x="333479" y="15954377"/>
            <a:ext cx="1941522"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RESULTS</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31429" y="22191991"/>
            <a:ext cx="5803670"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DISCUSSION AND CONCLUSION</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23215" y="27539264"/>
            <a:ext cx="3137361"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BIBLIOGRAPHY</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66671"/>
            <a:ext cx="20898834" cy="1302405"/>
          </a:xfrm>
          <a:prstGeom prst="rect">
            <a:avLst/>
          </a:prstGeom>
          <a:noFill/>
        </p:spPr>
        <p:txBody>
          <a:bodyPr wrap="square" rtlCol="0">
            <a:spAutoFit/>
          </a:bodyPr>
          <a:lstStyle/>
          <a:p>
            <a:pPr algn="ctr">
              <a:lnSpc>
                <a:spcPct val="106000"/>
              </a:lnSpc>
              <a:spcAft>
                <a:spcPts val="800"/>
              </a:spcAft>
            </a:pPr>
            <a:r>
              <a:rPr lang="en-US" sz="3690" b="1" dirty="0">
                <a:latin typeface="Times New Roman" pitchFamily="18" charset="0"/>
                <a:cs typeface="Times New Roman" pitchFamily="18" charset="0"/>
              </a:rPr>
              <a:t>Evaluation of Response Time Performance in Medication Reminder App: A Comparative Study Between </a:t>
            </a:r>
            <a:r>
              <a:rPr lang="en-US" sz="3690" b="1" dirty="0" err="1">
                <a:latin typeface="Times New Roman" pitchFamily="18" charset="0"/>
                <a:cs typeface="Times New Roman" pitchFamily="18" charset="0"/>
              </a:rPr>
              <a:t>iOS</a:t>
            </a:r>
            <a:r>
              <a:rPr lang="en-US" sz="3690" b="1" dirty="0">
                <a:latin typeface="Times New Roman" pitchFamily="18" charset="0"/>
                <a:cs typeface="Times New Roman" pitchFamily="18" charset="0"/>
              </a:rPr>
              <a:t> and Android Applications.</a:t>
            </a:r>
            <a:endParaRPr lang="en-IN" sz="3690" b="1" dirty="0">
              <a:latin typeface="Times New Roman" pitchFamily="18" charset="0"/>
              <a:ea typeface="Calibri" panose="020F0502020204030204" pitchFamily="34" charset="0"/>
              <a:cs typeface="Times New Roman" pitchFamily="18" charset="0"/>
            </a:endParaRPr>
          </a:p>
        </p:txBody>
      </p:sp>
      <p:sp>
        <p:nvSpPr>
          <p:cNvPr id="20" name="Rectangle 19"/>
          <p:cNvSpPr/>
          <p:nvPr/>
        </p:nvSpPr>
        <p:spPr>
          <a:xfrm>
            <a:off x="2003212" y="10269290"/>
            <a:ext cx="6770960"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MATERIALS AND METHODS</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70932"/>
            <a:ext cx="8384766" cy="860425"/>
          </a:xfrm>
          <a:prstGeom prst="rect">
            <a:avLst/>
          </a:prstGeom>
          <a:noFill/>
        </p:spPr>
        <p:txBody>
          <a:bodyPr wrap="square" rtlCol="0">
            <a:spAutoFit/>
          </a:bodyPr>
          <a:lstStyle/>
          <a:p>
            <a:pPr algn="r"/>
            <a:r>
              <a:rPr lang="en-US" sz="2490" b="1" dirty="0">
                <a:solidFill>
                  <a:schemeClr val="bg1"/>
                </a:solidFill>
                <a:latin typeface="Times New Roman" panose="02020603050405020304" pitchFamily="18" charset="0"/>
                <a:cs typeface="Times New Roman" panose="02020603050405020304" pitchFamily="18" charset="0"/>
              </a:rPr>
              <a:t> Ms. Poorani.S            </a:t>
            </a:r>
          </a:p>
          <a:p>
            <a:pPr algn="r"/>
            <a:r>
              <a:rPr lang="en-US" sz="2490" b="1" dirty="0">
                <a:solidFill>
                  <a:schemeClr val="bg1"/>
                </a:solidFill>
                <a:latin typeface="Times New Roman" panose="02020603050405020304" pitchFamily="18" charset="0"/>
                <a:cs typeface="Times New Roman" panose="02020603050405020304" pitchFamily="18" charset="0"/>
              </a:rPr>
              <a:t> Guided by Dr. Mary Valantina. G</a:t>
            </a:r>
            <a:endParaRPr lang="en-IN" sz="2490"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0" y="4088798"/>
            <a:ext cx="16535400" cy="5773322"/>
          </a:xfrm>
          <a:prstGeom prst="rect">
            <a:avLst/>
          </a:prstGeom>
          <a:noFill/>
        </p:spPr>
        <p:txBody>
          <a:bodyPr wrap="square" rtlCol="0">
            <a:noAutofit/>
          </a:bodyPr>
          <a:lstStyle/>
          <a:p>
            <a:r>
              <a:rPr lang="en-IN" sz="2190" b="1" dirty="0">
                <a:latin typeface="Times New Roman" panose="02020603050405020304" pitchFamily="18" charset="0"/>
                <a:cs typeface="Times New Roman" panose="02020603050405020304" pitchFamily="18" charset="0"/>
              </a:rPr>
              <a:t> </a:t>
            </a:r>
          </a:p>
          <a:p>
            <a:pPr marL="340995" indent="-340995">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sym typeface="+mn-ea"/>
            </a:endParaRPr>
          </a:p>
          <a:p>
            <a:pPr marL="798195" lvl="1" indent="-340995" algn="just">
              <a:buFont typeface="Wingdings" pitchFamily="2" charset="2"/>
              <a:buChar char="Ø"/>
            </a:pPr>
            <a:r>
              <a:rPr lang="en-US" sz="2190" b="1" dirty="0">
                <a:latin typeface="Times New Roman" pitchFamily="18" charset="0"/>
                <a:cs typeface="Times New Roman" pitchFamily="18" charset="0"/>
              </a:rPr>
              <a:t>The Medication-Reminder is a comprehensive solution that uses voice app notification to remind patients to take their medications at the appointed times.</a:t>
            </a:r>
          </a:p>
          <a:p>
            <a:pPr marL="798195" lvl="1" indent="-340995" algn="just">
              <a:buFont typeface="Wingdings" pitchFamily="2" charset="2"/>
              <a:buChar char="Ø"/>
            </a:pPr>
            <a:endParaRPr lang="en-US" sz="2190" b="1" dirty="0">
              <a:latin typeface="Times New Roman" pitchFamily="18" charset="0"/>
              <a:cs typeface="Times New Roman" pitchFamily="18" charset="0"/>
            </a:endParaRPr>
          </a:p>
          <a:p>
            <a:pPr marL="798195" lvl="1" indent="-340995" algn="just">
              <a:buFont typeface="Wingdings" pitchFamily="2" charset="2"/>
              <a:buChar char="Ø"/>
            </a:pPr>
            <a:r>
              <a:rPr lang="en-US" sz="2190" b="1" dirty="0">
                <a:latin typeface="Times New Roman" pitchFamily="18" charset="0"/>
                <a:cs typeface="Times New Roman" pitchFamily="18" charset="0"/>
              </a:rPr>
              <a:t> It enables smooth communication and effective progress tracking between medical professionals and patients. It improves the healing process for patients using tablets by offering precise scheduling and thorough progress tracking.</a:t>
            </a:r>
          </a:p>
          <a:p>
            <a:pPr marL="798195" lvl="1" indent="-340995" algn="just">
              <a:buFont typeface="Wingdings" pitchFamily="2" charset="2"/>
              <a:buChar char="Ø"/>
            </a:pPr>
            <a:endParaRPr lang="en-US" sz="2190" b="1" i="0" u="none" strike="noStrike" dirty="0">
              <a:solidFill>
                <a:srgbClr val="000000"/>
              </a:solidFill>
              <a:effectLst/>
              <a:latin typeface="Times New Roman" pitchFamily="18" charset="0"/>
              <a:cs typeface="Times New Roman" pitchFamily="18" charset="0"/>
            </a:endParaRPr>
          </a:p>
          <a:p>
            <a:pPr marL="798195" lvl="1" indent="-340995" algn="just">
              <a:buFont typeface="Wingdings" pitchFamily="2" charset="2"/>
              <a:buChar char="Ø"/>
            </a:pPr>
            <a:r>
              <a:rPr lang="en-US" sz="2190" b="1" i="0" u="none" strike="noStrike" dirty="0">
                <a:solidFill>
                  <a:srgbClr val="000000"/>
                </a:solidFill>
                <a:effectLst/>
                <a:latin typeface="Times New Roman" pitchFamily="18" charset="0"/>
                <a:cs typeface="Times New Roman" pitchFamily="18" charset="0"/>
              </a:rPr>
              <a:t>The aim of this project is to assess and contrast the navigation response times and user navigation durations experienced during the treatment process on both the Medication-Reminder Android application and the iOS platform. </a:t>
            </a:r>
            <a:endParaRPr lang="en-US" sz="2190" b="1" i="0" u="none" strike="noStrike" dirty="0">
              <a:solidFill>
                <a:srgbClr val="000000"/>
              </a:solidFill>
              <a:latin typeface="Times New Roman" panose="02020603050405020304" pitchFamily="18" charset="0"/>
              <a:cs typeface="Times New Roman" panose="02020603050405020304" pitchFamily="18" charset="0"/>
            </a:endParaRPr>
          </a:p>
          <a:p>
            <a:pPr lvl="1"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i="0" u="none" strike="noStrike" dirty="0">
                <a:solidFill>
                  <a:srgbClr val="000000"/>
                </a:solidFill>
                <a:effectLst/>
                <a:latin typeface="Times New Roman" panose="02020603050405020304" pitchFamily="18" charset="0"/>
              </a:rPr>
              <a:t>We found that the iOS application had a faster navigation reaction time than the Android version when we evaluated </a:t>
            </a:r>
            <a:r>
              <a:rPr lang="en-US" sz="2190" b="1" dirty="0">
                <a:latin typeface="Times New Roman" panose="02020603050405020304" pitchFamily="18" charset="0"/>
                <a:cs typeface="Times New Roman" panose="02020603050405020304" pitchFamily="18" charset="0"/>
              </a:rPr>
              <a:t>which improves both user experience and operational effectiveness.</a:t>
            </a:r>
          </a:p>
          <a:p>
            <a:pPr marL="798195" lvl="1" indent="-340995" algn="just">
              <a:buFont typeface="Wingdings" pitchFamily="2" charset="2"/>
              <a:buChar char="Ø"/>
            </a:pPr>
            <a:endParaRPr lang="en-US" sz="2190" b="1" dirty="0">
              <a:latin typeface="Times New Roman" panose="02020603050405020304" pitchFamily="18" charset="0"/>
              <a:cs typeface="Times New Roman" panose="02020603050405020304" pitchFamily="18" charset="0"/>
            </a:endParaRPr>
          </a:p>
          <a:p>
            <a:pPr lvl="1" algn="just">
              <a:buFont typeface="Wingdings" pitchFamily="2" charset="2"/>
              <a:buChar char="Ø"/>
            </a:pPr>
            <a:r>
              <a:rPr lang="en-US" sz="2190" b="1" dirty="0">
                <a:latin typeface="Times New Roman" panose="02020603050405020304" pitchFamily="18" charset="0"/>
                <a:cs typeface="Times New Roman" panose="02020603050405020304" pitchFamily="18" charset="0"/>
              </a:rPr>
              <a:t>Therefore, this study serves as a critical step towards leveraging technology to enhance patient care and promote better health               	management through mobile medication-Reminder applications.</a:t>
            </a:r>
          </a:p>
          <a:p>
            <a:r>
              <a:rPr lang="en-US" sz="2400" dirty="0"/>
              <a:t/>
            </a:r>
            <a:br>
              <a:rPr lang="en-US" sz="2400" dirty="0"/>
            </a:br>
            <a:endParaRPr lang="en-US" sz="2190" b="1" dirty="0">
              <a:latin typeface="Times New Roman" panose="02020603050405020304" pitchFamily="18" charset="0"/>
              <a:cs typeface="Times New Roman" panose="02020603050405020304" pitchFamily="18" charset="0"/>
            </a:endParaRPr>
          </a:p>
          <a:p>
            <a:pPr algn="just"/>
            <a:endParaRPr lang="en-US" altLang="en-IN" sz="2190" b="1"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1384372" y="11026741"/>
            <a:ext cx="12078470" cy="398780"/>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0" y="22807310"/>
            <a:ext cx="21599525" cy="4444294"/>
          </a:xfrm>
          <a:prstGeom prst="rect">
            <a:avLst/>
          </a:prstGeom>
          <a:noFill/>
        </p:spPr>
        <p:txBody>
          <a:bodyPr wrap="square" rtlCol="0">
            <a:spAutoFit/>
          </a:bodyPr>
          <a:lstStyle/>
          <a:p>
            <a:pPr marL="340995" indent="-340995">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Based on T-test Statistical analysis, the significance value of p=0.0</a:t>
            </a:r>
            <a:r>
              <a:rPr lang="en-IN" altLang="en-US" sz="2190" b="1" dirty="0">
                <a:latin typeface="Times New Roman" panose="02020603050405020304" pitchFamily="18" charset="0"/>
                <a:cs typeface="Times New Roman" panose="02020603050405020304" pitchFamily="18" charset="0"/>
              </a:rPr>
              <a:t>0</a:t>
            </a:r>
            <a:r>
              <a:rPr lang="en-US" altLang="en-US" sz="2190" b="1" dirty="0">
                <a:latin typeface="Times New Roman" panose="02020603050405020304" pitchFamily="18" charset="0"/>
                <a:cs typeface="Times New Roman" panose="02020603050405020304" pitchFamily="18" charset="0"/>
              </a:rPr>
              <a:t>7</a:t>
            </a:r>
            <a:r>
              <a:rPr lang="en-US" altLang="en-IN" sz="2190" b="1" dirty="0">
                <a:latin typeface="Times New Roman" panose="02020603050405020304" pitchFamily="18" charset="0"/>
                <a:cs typeface="Times New Roman" panose="02020603050405020304" pitchFamily="18" charset="0"/>
              </a:rPr>
              <a:t> (independent sample T - test p&lt;0.05) is obtained and shows that there is a statistical significant difference between the group 1</a:t>
            </a:r>
            <a:r>
              <a:rPr lang="en-IN" altLang="en-US" sz="2190" b="1" dirty="0">
                <a:latin typeface="Times New Roman" panose="02020603050405020304" pitchFamily="18" charset="0"/>
                <a:cs typeface="Times New Roman" panose="02020603050405020304" pitchFamily="18" charset="0"/>
              </a:rPr>
              <a:t>(</a:t>
            </a:r>
            <a:r>
              <a:rPr lang="en-IN" altLang="en-US" sz="2190" b="1" dirty="0">
                <a:latin typeface="Times New Roman" panose="02020603050405020304" pitchFamily="18" charset="0"/>
                <a:cs typeface="Times New Roman" panose="02020603050405020304" pitchFamily="18" charset="0"/>
                <a:sym typeface="+mn-ea"/>
              </a:rPr>
              <a:t>iOS </a:t>
            </a:r>
            <a:r>
              <a:rPr lang="en-US" altLang="en-IN" sz="2190" b="1" dirty="0">
                <a:latin typeface="Times New Roman" panose="02020603050405020304" pitchFamily="18" charset="0"/>
                <a:cs typeface="Times New Roman" panose="02020603050405020304" pitchFamily="18" charset="0"/>
                <a:sym typeface="+mn-ea"/>
              </a:rPr>
              <a:t>Application</a:t>
            </a:r>
            <a:r>
              <a:rPr lang="en-IN" altLang="en-US" sz="2190" b="1" dirty="0">
                <a:latin typeface="Times New Roman" panose="02020603050405020304" pitchFamily="18" charset="0"/>
                <a:cs typeface="Times New Roman" panose="02020603050405020304" pitchFamily="18" charset="0"/>
                <a:sym typeface="+mn-ea"/>
              </a:rPr>
              <a:t>)</a:t>
            </a:r>
            <a:r>
              <a:rPr lang="en-US" altLang="en-IN" sz="2190" b="1" dirty="0">
                <a:latin typeface="Times New Roman" panose="02020603050405020304" pitchFamily="18" charset="0"/>
                <a:cs typeface="Times New Roman" panose="02020603050405020304" pitchFamily="18" charset="0"/>
              </a:rPr>
              <a:t> and group 2</a:t>
            </a:r>
            <a:r>
              <a:rPr lang="en-IN" altLang="en-US" sz="2190" b="1" dirty="0">
                <a:latin typeface="Times New Roman" panose="02020603050405020304" pitchFamily="18" charset="0"/>
                <a:cs typeface="Times New Roman" panose="02020603050405020304" pitchFamily="18" charset="0"/>
              </a:rPr>
              <a:t>(</a:t>
            </a:r>
            <a:r>
              <a:rPr lang="en-US" sz="2190" b="1" dirty="0">
                <a:latin typeface="Times New Roman" panose="02020603050405020304" pitchFamily="18" charset="0"/>
                <a:cs typeface="Times New Roman" panose="02020603050405020304" pitchFamily="18" charset="0"/>
                <a:sym typeface="+mn-ea"/>
              </a:rPr>
              <a:t>Android </a:t>
            </a:r>
            <a:r>
              <a:rPr lang="en-US" altLang="en-IN" sz="2190" b="1" dirty="0">
                <a:latin typeface="Times New Roman" panose="02020603050405020304" pitchFamily="18" charset="0"/>
                <a:cs typeface="Times New Roman" panose="02020603050405020304" pitchFamily="18" charset="0"/>
                <a:sym typeface="+mn-ea"/>
              </a:rPr>
              <a:t> Application</a:t>
            </a:r>
            <a:r>
              <a:rPr lang="en-IN" altLang="en-US" sz="2190" b="1" dirty="0">
                <a:latin typeface="Times New Roman" panose="02020603050405020304" pitchFamily="18" charset="0"/>
                <a:cs typeface="Times New Roman" panose="02020603050405020304" pitchFamily="18" charset="0"/>
                <a:sym typeface="+mn-ea"/>
              </a:rPr>
              <a:t>)</a:t>
            </a:r>
            <a:r>
              <a:rPr lang="en-US" altLang="en-IN" sz="2190" b="1" dirty="0">
                <a:latin typeface="Times New Roman" panose="02020603050405020304" pitchFamily="18" charset="0"/>
                <a:cs typeface="Times New Roman" panose="02020603050405020304" pitchFamily="18" charset="0"/>
              </a:rPr>
              <a:t>.</a:t>
            </a:r>
          </a:p>
          <a:p>
            <a:pPr marL="798195" lvl="1" indent="-340995"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Overall, the Response time of the</a:t>
            </a:r>
            <a:r>
              <a:rPr lang="en-IN" altLang="en-US" sz="2190" b="1" dirty="0">
                <a:latin typeface="Times New Roman" panose="02020603050405020304" pitchFamily="18" charset="0"/>
                <a:cs typeface="Times New Roman" panose="02020603050405020304" pitchFamily="18" charset="0"/>
              </a:rPr>
              <a:t> </a:t>
            </a:r>
            <a:r>
              <a:rPr lang="en-US" sz="2000" b="1" dirty="0">
                <a:solidFill>
                  <a:srgbClr val="000000"/>
                </a:solidFill>
                <a:latin typeface="Times New Roman" panose="02020603050405020304" pitchFamily="18" charset="0"/>
                <a:cs typeface="Times New Roman" panose="02020603050405020304" pitchFamily="18" charset="0"/>
              </a:rPr>
              <a:t>Medication-Reminder  </a:t>
            </a:r>
            <a:r>
              <a:rPr lang="en-IN" altLang="en-US" sz="2190" b="1" dirty="0">
                <a:latin typeface="Times New Roman" panose="02020603050405020304" pitchFamily="18" charset="0"/>
                <a:cs typeface="Times New Roman" panose="02020603050405020304" pitchFamily="18" charset="0"/>
                <a:sym typeface="+mn-ea"/>
              </a:rPr>
              <a:t>iOS  </a:t>
            </a:r>
            <a:r>
              <a:rPr lang="en-US" altLang="en-IN" sz="2190" b="1" dirty="0">
                <a:latin typeface="Times New Roman" panose="02020603050405020304" pitchFamily="18" charset="0"/>
                <a:cs typeface="Times New Roman" panose="02020603050405020304" pitchFamily="18" charset="0"/>
                <a:sym typeface="+mn-ea"/>
              </a:rPr>
              <a:t>Application</a:t>
            </a:r>
            <a:r>
              <a:rPr lang="en-IN" altLang="en-US" sz="2190" b="1" dirty="0">
                <a:latin typeface="Times New Roman" panose="02020603050405020304" pitchFamily="18" charset="0"/>
                <a:cs typeface="Times New Roman" panose="02020603050405020304" pitchFamily="18" charset="0"/>
                <a:sym typeface="+mn-ea"/>
              </a:rPr>
              <a:t> </a:t>
            </a:r>
            <a:r>
              <a:rPr lang="en-US" altLang="en-IN" sz="2190" b="1" dirty="0">
                <a:latin typeface="Times New Roman" panose="02020603050405020304" pitchFamily="18" charset="0"/>
                <a:cs typeface="Times New Roman" panose="02020603050405020304" pitchFamily="18" charset="0"/>
                <a:sym typeface="+mn-ea"/>
              </a:rPr>
              <a:t>is </a:t>
            </a:r>
            <a:r>
              <a:rPr lang="en-IN" altLang="en-IN" sz="2190" b="1" dirty="0">
                <a:latin typeface="Times New Roman" panose="02020603050405020304" pitchFamily="18" charset="0"/>
                <a:cs typeface="Times New Roman" panose="02020603050405020304" pitchFamily="18" charset="0"/>
                <a:sym typeface="+mn-ea"/>
              </a:rPr>
              <a:t>29.33</a:t>
            </a:r>
            <a:r>
              <a:rPr lang="en-IN" altLang="en-US" sz="2190" b="1" dirty="0">
                <a:latin typeface="Times New Roman" panose="02020603050405020304" pitchFamily="18" charset="0"/>
                <a:cs typeface="Times New Roman" panose="02020603050405020304" pitchFamily="18" charset="0"/>
                <a:sym typeface="+mn-ea"/>
              </a:rPr>
              <a:t>ms</a:t>
            </a:r>
            <a:r>
              <a:rPr lang="en-US" altLang="en-IN" sz="2190" b="1" dirty="0">
                <a:latin typeface="Times New Roman" panose="02020603050405020304" pitchFamily="18" charset="0"/>
                <a:cs typeface="Times New Roman" panose="02020603050405020304" pitchFamily="18" charset="0"/>
              </a:rPr>
              <a:t> and it is better than the</a:t>
            </a:r>
            <a:r>
              <a:rPr lang="en-IN" altLang="en-US" sz="2190" b="1" dirty="0">
                <a:latin typeface="Times New Roman" panose="02020603050405020304" pitchFamily="18" charset="0"/>
                <a:cs typeface="Times New Roman" panose="02020603050405020304" pitchFamily="18" charset="0"/>
              </a:rPr>
              <a:t> </a:t>
            </a:r>
            <a:r>
              <a:rPr lang="en-US" sz="2190" b="1" dirty="0">
                <a:latin typeface="Times New Roman" panose="02020603050405020304" pitchFamily="18" charset="0"/>
                <a:cs typeface="Times New Roman" panose="02020603050405020304" pitchFamily="18" charset="0"/>
                <a:sym typeface="+mn-ea"/>
              </a:rPr>
              <a:t>Android</a:t>
            </a:r>
            <a:r>
              <a:rPr lang="en-IN" altLang="en-US" sz="2190" b="1" dirty="0">
                <a:latin typeface="Times New Roman" panose="02020603050405020304" pitchFamily="18" charset="0"/>
                <a:cs typeface="Times New Roman" panose="02020603050405020304" pitchFamily="18" charset="0"/>
                <a:sym typeface="+mn-ea"/>
              </a:rPr>
              <a:t> </a:t>
            </a:r>
            <a:r>
              <a:rPr lang="en-US" altLang="en-IN" sz="2190" b="1" dirty="0" smtClean="0">
                <a:latin typeface="Times New Roman" panose="02020603050405020304" pitchFamily="18" charset="0"/>
                <a:cs typeface="Times New Roman" panose="02020603050405020304" pitchFamily="18" charset="0"/>
                <a:sym typeface="+mn-ea"/>
              </a:rPr>
              <a:t>Application</a:t>
            </a:r>
            <a:r>
              <a:rPr lang="en-US" altLang="en-IN" sz="2190" b="1" dirty="0" smtClean="0">
                <a:latin typeface="Times New Roman" panose="02020603050405020304" pitchFamily="18" charset="0"/>
                <a:cs typeface="Times New Roman" panose="02020603050405020304" pitchFamily="18" charset="0"/>
              </a:rPr>
              <a:t>. The</a:t>
            </a:r>
            <a:r>
              <a:rPr lang="en-US" sz="2000" b="1" dirty="0" smtClean="0">
                <a:solidFill>
                  <a:srgbClr val="000000"/>
                </a:solidFill>
                <a:latin typeface="Times New Roman" panose="02020603050405020304" pitchFamily="18" charset="0"/>
                <a:cs typeface="Times New Roman" panose="02020603050405020304" pitchFamily="18" charset="0"/>
              </a:rPr>
              <a:t> </a:t>
            </a:r>
            <a:r>
              <a:rPr lang="en-US" sz="2190" b="1" dirty="0">
                <a:latin typeface="Times New Roman" panose="02020603050405020304" pitchFamily="18" charset="0"/>
                <a:cs typeface="Times New Roman" panose="02020603050405020304" pitchFamily="18" charset="0"/>
                <a:sym typeface="+mn-ea"/>
              </a:rPr>
              <a:t>Android</a:t>
            </a:r>
            <a:r>
              <a:rPr lang="en-IN" altLang="en-US" sz="2190" b="1" dirty="0">
                <a:latin typeface="Times New Roman" panose="02020603050405020304" pitchFamily="18" charset="0"/>
                <a:cs typeface="Times New Roman" panose="02020603050405020304" pitchFamily="18" charset="0"/>
                <a:sym typeface="+mn-ea"/>
              </a:rPr>
              <a:t> </a:t>
            </a:r>
            <a:r>
              <a:rPr lang="en-US" altLang="en-IN" sz="2190" b="1" dirty="0">
                <a:latin typeface="Times New Roman" panose="02020603050405020304" pitchFamily="18" charset="0"/>
                <a:cs typeface="Times New Roman" panose="02020603050405020304" pitchFamily="18" charset="0"/>
                <a:sym typeface="+mn-ea"/>
              </a:rPr>
              <a:t>Application is </a:t>
            </a:r>
            <a:r>
              <a:rPr lang="en-IN" altLang="en-US" sz="2190" b="1" dirty="0">
                <a:latin typeface="Times New Roman" panose="02020603050405020304" pitchFamily="18" charset="0"/>
                <a:cs typeface="Times New Roman" panose="02020603050405020304" pitchFamily="18" charset="0"/>
                <a:sym typeface="+mn-ea"/>
              </a:rPr>
              <a:t> 34.58</a:t>
            </a:r>
            <a:r>
              <a:rPr lang="en-US" altLang="en-IN" sz="2190" b="1" dirty="0">
                <a:latin typeface="Times New Roman" panose="02020603050405020304" pitchFamily="18" charset="0"/>
                <a:cs typeface="Times New Roman" panose="02020603050405020304" pitchFamily="18" charset="0"/>
                <a:sym typeface="+mn-ea"/>
              </a:rPr>
              <a:t>ms.</a:t>
            </a:r>
            <a:endParaRPr lang="en-IN" altLang="en-IN" sz="2190" b="1" dirty="0">
              <a:latin typeface="Times New Roman" panose="02020603050405020304" pitchFamily="18" charset="0"/>
              <a:cs typeface="Times New Roman" panose="02020603050405020304" pitchFamily="18" charset="0"/>
              <a:sym typeface="+mn-ea"/>
            </a:endParaRPr>
          </a:p>
          <a:p>
            <a:pPr marL="798195" lvl="1" indent="-340995" algn="just">
              <a:buFont typeface="Wingdings" pitchFamily="2" charset="2"/>
              <a:buChar char="Ø"/>
            </a:pPr>
            <a:endParaRPr lang="en-IN" altLang="en-IN" sz="2190" b="1" dirty="0">
              <a:latin typeface="Times New Roman" panose="02020603050405020304" pitchFamily="18" charset="0"/>
              <a:cs typeface="Times New Roman" panose="02020603050405020304" pitchFamily="18" charset="0"/>
              <a:sym typeface="+mn-ea"/>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From the work, it is concluded that the iOS Application attains the speed response time when comparing with </a:t>
            </a:r>
            <a:r>
              <a:rPr lang="en-US" sz="2190" b="1" dirty="0">
                <a:latin typeface="Times New Roman" panose="02020603050405020304" pitchFamily="18" charset="0"/>
                <a:cs typeface="Times New Roman" panose="02020603050405020304" pitchFamily="18" charset="0"/>
                <a:sym typeface="+mn-ea"/>
              </a:rPr>
              <a:t>Android </a:t>
            </a:r>
            <a:r>
              <a:rPr lang="en-US" altLang="en-IN" sz="2190" b="1" dirty="0">
                <a:latin typeface="Times New Roman" panose="02020603050405020304" pitchFamily="18" charset="0"/>
                <a:cs typeface="Times New Roman" panose="02020603050405020304" pitchFamily="18" charset="0"/>
              </a:rPr>
              <a:t>Application in </a:t>
            </a:r>
            <a:r>
              <a:rPr lang="en-US" sz="2000" b="1" dirty="0">
                <a:solidFill>
                  <a:srgbClr val="000000"/>
                </a:solidFill>
                <a:latin typeface="Times New Roman" panose="02020603050405020304" pitchFamily="18" charset="0"/>
                <a:cs typeface="Times New Roman" panose="02020603050405020304" pitchFamily="18" charset="0"/>
              </a:rPr>
              <a:t>Medication-Reminder</a:t>
            </a:r>
          </a:p>
          <a:p>
            <a:pPr marL="798195" lvl="1" indent="-340995" algn="just">
              <a:buFont typeface="Wingdings" pitchFamily="2" charset="2"/>
              <a:buChar char="Ø"/>
            </a:pPr>
            <a:endParaRPr lang="en-US" altLang="en-IN" sz="2000" b="1" dirty="0">
              <a:solidFill>
                <a:srgbClr val="000000"/>
              </a:solidFill>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Based on the statistical analysis and comparison of response times, prioritizing the optimization of the iOS version of Medication-Reminder is recommended to maintain its superior speed performance over the Android version, ensuring a seamless user experience.</a:t>
            </a:r>
          </a:p>
          <a:p>
            <a:pPr marL="798195" lvl="1" indent="-340995"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latin typeface="Times New Roman" pitchFamily="18" charset="0"/>
                <a:cs typeface="Times New Roman" pitchFamily="18" charset="0"/>
              </a:rPr>
              <a:t>This superior user experience on iOS could lead to higher user satisfaction ratings, increased retention rates, and potentially greater word-of-mouth recommendations, ultimately contributing to the overall success and popularity of the application. </a:t>
            </a:r>
            <a:endParaRPr lang="en-US" altLang="en-IN" sz="2190" b="1" dirty="0">
              <a:latin typeface="Times New Roman" pitchFamily="18" charset="0"/>
              <a:cs typeface="Times New Roman" pitchFamily="18" charset="0"/>
            </a:endParaRPr>
          </a:p>
        </p:txBody>
      </p:sp>
      <p:sp>
        <p:nvSpPr>
          <p:cNvPr id="39" name="TextBox 38"/>
          <p:cNvSpPr txBox="1"/>
          <p:nvPr/>
        </p:nvSpPr>
        <p:spPr>
          <a:xfrm>
            <a:off x="0" y="28552924"/>
            <a:ext cx="21386830" cy="4156562"/>
          </a:xfrm>
          <a:prstGeom prst="rect">
            <a:avLst/>
          </a:prstGeom>
          <a:noFill/>
        </p:spPr>
        <p:txBody>
          <a:bodyPr wrap="square" rtlCol="0">
            <a:spAutoFit/>
          </a:bodyPr>
          <a:lstStyle/>
          <a:p>
            <a:pPr lvl="1" algn="just">
              <a:buFont typeface="Wingdings" pitchFamily="2" charset="2"/>
              <a:buChar char="Ø"/>
            </a:pPr>
            <a:r>
              <a:rPr lang="en-US" sz="2190" b="1" dirty="0">
                <a:latin typeface="Times New Roman" pitchFamily="18" charset="0"/>
                <a:cs typeface="Times New Roman" pitchFamily="18" charset="0"/>
              </a:rPr>
              <a:t> Abu-El-Noor, Nasser Ibrahim, Yousef Ibrahim Aljeesh, Bettina Bottcher, and Mysoon Khalil Abu-El-Noor. 2020. “Impact of a Mobile Phone App on Adherence to Treatment 	Regimens among Hypertensive Patients: A Randomised Clinical Trial Study.” European Journal of Cardiovascular Nursing: Journal of the Working Group on 	Cardiovascular Nursing of the European Society of Cardiology 20 (5): 428–35.</a:t>
            </a:r>
          </a:p>
          <a:p>
            <a:pPr marL="798195" lvl="1" indent="-340995" algn="just">
              <a:buFont typeface="Wingdings" pitchFamily="2" charset="2"/>
              <a:buChar char="Ø"/>
            </a:pPr>
            <a:endParaRPr 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latin typeface="Times New Roman" panose="02020603050405020304" pitchFamily="18" charset="0"/>
                <a:cs typeface="Times New Roman" panose="02020603050405020304" pitchFamily="18" charset="0"/>
              </a:rPr>
              <a:t>Curtis, Kristina, Anastasiya Lebedev, Elisa Aguirre, and Stephan Lobitz. 2019. “A Medication Adherence App for Children With Sickle Cell Disease: Qualitative Study.” JMIR mHealth and uHealth 7 (6): e8130.</a:t>
            </a:r>
          </a:p>
          <a:p>
            <a:pPr marL="798195" lvl="1" indent="-340995" algn="just">
              <a:buFont typeface="Wingdings" pitchFamily="2" charset="2"/>
              <a:buChar char="Ø"/>
            </a:pPr>
            <a:endParaRPr 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latin typeface="Times New Roman" panose="02020603050405020304" pitchFamily="18" charset="0"/>
                <a:cs typeface="Times New Roman" panose="02020603050405020304" pitchFamily="18" charset="0"/>
              </a:rPr>
              <a:t>Islam, Sheikh Mohammed Shariful, Vinaytosh Mishra, Muhammad Umer Siddiqui, Jeban Chandir Moses, Sasan Adibi, Lemai Nguyen, and Nilmini Wickramasinghe. 2022. “Smartphone Apps for Diabetes Medication Adherence: Systematic Review.” JMIR Diabetes 7 (2): e33264.</a:t>
            </a:r>
          </a:p>
          <a:p>
            <a:pPr marL="798195" lvl="1" indent="-340995" algn="just"/>
            <a:endParaRPr 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latin typeface="Times New Roman" panose="02020603050405020304" pitchFamily="18" charset="0"/>
                <a:cs typeface="Times New Roman" panose="02020603050405020304" pitchFamily="18" charset="0"/>
              </a:rPr>
              <a:t>Kosse, Richelle C., Marcel L. Bouvy, Svetlana V. Belitser, Tjalling W. de Vries, Piet S. van der Wal, and Ellen S. Koster. 2019. “Effective Engagement of Adolescent Asthma Patients With Mobile Health–Supporting Medication Adherence.” JMIR mHealth and uHealth 7 (3): e12411.</a:t>
            </a:r>
            <a:endParaRPr lang="en-IN" sz="2190" b="1" dirty="0">
              <a:latin typeface="Times New Roman" panose="02020603050405020304" pitchFamily="18" charset="0"/>
              <a:cs typeface="Times New Roman" panose="02020603050405020304" pitchFamily="18" charset="0"/>
            </a:endParaRPr>
          </a:p>
        </p:txBody>
      </p:sp>
      <p:sp>
        <p:nvSpPr>
          <p:cNvPr id="49" name="Rectangle 48"/>
          <p:cNvSpPr/>
          <p:nvPr/>
        </p:nvSpPr>
        <p:spPr>
          <a:xfrm>
            <a:off x="16107" y="-50777"/>
            <a:ext cx="21571523" cy="2581776"/>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pic>
        <p:nvPicPr>
          <p:cNvPr id="13" name="Picture 1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31713" y="-8663"/>
            <a:ext cx="20939802" cy="2444096"/>
          </a:xfrm>
          <a:prstGeom prst="rect">
            <a:avLst/>
          </a:prstGeom>
        </p:spPr>
      </p:pic>
      <p:sp>
        <p:nvSpPr>
          <p:cNvPr id="50" name="Text Box 41"/>
          <p:cNvSpPr txBox="1"/>
          <p:nvPr/>
        </p:nvSpPr>
        <p:spPr>
          <a:xfrm>
            <a:off x="15639941" y="1426134"/>
            <a:ext cx="5569043" cy="1108339"/>
          </a:xfrm>
          <a:prstGeom prst="rect">
            <a:avLst/>
          </a:prstGeom>
          <a:noFill/>
        </p:spPr>
        <p:txBody>
          <a:bodyPr wrap="square" rtlCol="0">
            <a:spAutoFit/>
          </a:bodyPr>
          <a:lstStyle/>
          <a:p>
            <a:pPr algn="r"/>
            <a:r>
              <a:rPr lang="en-US" sz="2190" b="1" dirty="0">
                <a:solidFill>
                  <a:schemeClr val="bg1"/>
                </a:solidFill>
                <a:latin typeface="Times New Roman" panose="02020603050405020304" pitchFamily="18" charset="0"/>
                <a:cs typeface="Times New Roman" panose="02020603050405020304" pitchFamily="18" charset="0"/>
              </a:rPr>
              <a:t>Name:  Ms Nisha N</a:t>
            </a:r>
            <a:br>
              <a:rPr lang="en-US" sz="2190" b="1" dirty="0">
                <a:solidFill>
                  <a:schemeClr val="bg1"/>
                </a:solidFill>
                <a:latin typeface="Times New Roman" panose="02020603050405020304" pitchFamily="18" charset="0"/>
                <a:cs typeface="Times New Roman" panose="02020603050405020304" pitchFamily="18" charset="0"/>
              </a:rPr>
            </a:br>
            <a:r>
              <a:rPr lang="en-US" sz="2190" b="1" dirty="0">
                <a:solidFill>
                  <a:schemeClr val="bg1"/>
                </a:solidFill>
                <a:latin typeface="Times New Roman" panose="02020603050405020304" pitchFamily="18" charset="0"/>
                <a:cs typeface="Times New Roman" panose="02020603050405020304" pitchFamily="18" charset="0"/>
              </a:rPr>
              <a:t>Register Number: 192011495L</a:t>
            </a:r>
          </a:p>
          <a:p>
            <a:pPr algn="r"/>
            <a:r>
              <a:rPr lang="en-US" sz="2190" b="1" dirty="0">
                <a:solidFill>
                  <a:schemeClr val="bg1"/>
                </a:solidFill>
                <a:latin typeface="Times New Roman" panose="02020603050405020304" pitchFamily="18" charset="0"/>
                <a:cs typeface="Times New Roman" panose="02020603050405020304" pitchFamily="18" charset="0"/>
              </a:rPr>
              <a:t>Guided by  Dr T Suresh Balakrishnan</a:t>
            </a:r>
          </a:p>
        </p:txBody>
      </p:sp>
      <p:sp>
        <p:nvSpPr>
          <p:cNvPr id="1045" name="TextBox 1044">
            <a:extLst>
              <a:ext uri="{FF2B5EF4-FFF2-40B4-BE49-F238E27FC236}">
                <a16:creationId xmlns="" xmlns:a16="http://schemas.microsoft.com/office/drawing/2014/main" id="{23AFED97-9AB8-64F2-31DC-77ECA5114D4F}"/>
              </a:ext>
            </a:extLst>
          </p:cNvPr>
          <p:cNvSpPr txBox="1"/>
          <p:nvPr/>
        </p:nvSpPr>
        <p:spPr>
          <a:xfrm>
            <a:off x="16355029" y="21475524"/>
            <a:ext cx="2117183" cy="371122"/>
          </a:xfrm>
          <a:prstGeom prst="rect">
            <a:avLst/>
          </a:prstGeom>
          <a:noFill/>
        </p:spPr>
        <p:txBody>
          <a:bodyPr wrap="square" rtlCol="0">
            <a:spAutoFit/>
          </a:bodyPr>
          <a:lstStyle/>
          <a:p>
            <a:r>
              <a:rPr lang="en-IN" b="1" dirty="0">
                <a:latin typeface="Times New Roman" pitchFamily="18" charset="0"/>
                <a:cs typeface="Times New Roman" pitchFamily="18" charset="0"/>
              </a:rPr>
              <a:t>Fig 4:Doctor Login</a:t>
            </a:r>
          </a:p>
        </p:txBody>
      </p:sp>
      <p:sp>
        <p:nvSpPr>
          <p:cNvPr id="1051" name="TextBox 1050">
            <a:extLst>
              <a:ext uri="{FF2B5EF4-FFF2-40B4-BE49-F238E27FC236}">
                <a16:creationId xmlns="" xmlns:a16="http://schemas.microsoft.com/office/drawing/2014/main" id="{F1B309D7-7F0A-2C41-331A-750C2CD4135D}"/>
              </a:ext>
            </a:extLst>
          </p:cNvPr>
          <p:cNvSpPr txBox="1"/>
          <p:nvPr/>
        </p:nvSpPr>
        <p:spPr>
          <a:xfrm>
            <a:off x="19086653" y="21499367"/>
            <a:ext cx="2077562" cy="371122"/>
          </a:xfrm>
          <a:prstGeom prst="rect">
            <a:avLst/>
          </a:prstGeom>
          <a:noFill/>
        </p:spPr>
        <p:txBody>
          <a:bodyPr wrap="square" rtlCol="0">
            <a:spAutoFit/>
          </a:bodyPr>
          <a:lstStyle/>
          <a:p>
            <a:r>
              <a:rPr lang="en-IN" b="1" dirty="0">
                <a:latin typeface="Times New Roman" pitchFamily="18" charset="0"/>
                <a:cs typeface="Times New Roman" pitchFamily="18" charset="0"/>
              </a:rPr>
              <a:t>Fig 5:Patient Login</a:t>
            </a:r>
          </a:p>
        </p:txBody>
      </p:sp>
      <p:sp>
        <p:nvSpPr>
          <p:cNvPr id="1061" name="TextBox 1060">
            <a:extLst>
              <a:ext uri="{FF2B5EF4-FFF2-40B4-BE49-F238E27FC236}">
                <a16:creationId xmlns="" xmlns:a16="http://schemas.microsoft.com/office/drawing/2014/main" id="{66FD594F-CBB9-EE7E-D8E5-57EB4EE8EAF8}"/>
              </a:ext>
            </a:extLst>
          </p:cNvPr>
          <p:cNvSpPr txBox="1"/>
          <p:nvPr/>
        </p:nvSpPr>
        <p:spPr>
          <a:xfrm>
            <a:off x="17246279" y="9347669"/>
            <a:ext cx="3221287" cy="402049"/>
          </a:xfrm>
          <a:prstGeom prst="rect">
            <a:avLst/>
          </a:prstGeom>
          <a:noFill/>
        </p:spPr>
        <p:txBody>
          <a:bodyPr wrap="square" rtlCol="0">
            <a:spAutoFit/>
          </a:bodyPr>
          <a:lstStyle/>
          <a:p>
            <a:r>
              <a:rPr lang="en-US" sz="2000" b="1" dirty="0">
                <a:solidFill>
                  <a:srgbClr val="000000"/>
                </a:solidFill>
                <a:latin typeface="Times New Roman" panose="02020603050405020304" pitchFamily="18" charset="0"/>
                <a:cs typeface="Times New Roman" panose="02020603050405020304" pitchFamily="18" charset="0"/>
              </a:rPr>
              <a:t>Fig 1:Medication-Reminder</a:t>
            </a:r>
            <a:endParaRPr lang="en-IN" sz="2100" b="1" dirty="0"/>
          </a:p>
        </p:txBody>
      </p:sp>
      <p:grpSp>
        <p:nvGrpSpPr>
          <p:cNvPr id="79" name="Group 78"/>
          <p:cNvGrpSpPr/>
          <p:nvPr/>
        </p:nvGrpSpPr>
        <p:grpSpPr>
          <a:xfrm>
            <a:off x="16889095" y="4380719"/>
            <a:ext cx="5182870" cy="4832160"/>
            <a:chOff x="16416655" y="4359592"/>
            <a:chExt cx="5182870" cy="4808857"/>
          </a:xfrm>
        </p:grpSpPr>
        <p:pic>
          <p:nvPicPr>
            <p:cNvPr id="1026" name="Picture 2" descr="https://imgr.whimsical.com/object/Ekt855XFZ2Wi2iZjnBfyBM"/>
            <p:cNvPicPr>
              <a:picLocks noChangeAspect="1" noChangeArrowheads="1"/>
            </p:cNvPicPr>
            <p:nvPr/>
          </p:nvPicPr>
          <p:blipFill>
            <a:blip r:embed="rId3"/>
            <a:srcRect/>
            <a:stretch>
              <a:fillRect/>
            </a:stretch>
          </p:blipFill>
          <p:spPr bwMode="auto">
            <a:xfrm>
              <a:off x="16416655" y="8137843"/>
              <a:ext cx="2404745" cy="1030606"/>
            </a:xfrm>
            <a:prstGeom prst="rect">
              <a:avLst/>
            </a:prstGeom>
            <a:noFill/>
          </p:spPr>
        </p:pic>
        <p:pic>
          <p:nvPicPr>
            <p:cNvPr id="1028" name="Picture 4" descr="https://imgr.whimsical.com/object/Bpd6PizagUhByCyKbVA7y7"/>
            <p:cNvPicPr>
              <a:picLocks noChangeAspect="1" noChangeArrowheads="1"/>
            </p:cNvPicPr>
            <p:nvPr/>
          </p:nvPicPr>
          <p:blipFill>
            <a:blip r:embed="rId4"/>
            <a:srcRect/>
            <a:stretch>
              <a:fillRect/>
            </a:stretch>
          </p:blipFill>
          <p:spPr bwMode="auto">
            <a:xfrm>
              <a:off x="17513935" y="5989320"/>
              <a:ext cx="2343785" cy="1737909"/>
            </a:xfrm>
            <a:prstGeom prst="rect">
              <a:avLst/>
            </a:prstGeom>
            <a:noFill/>
          </p:spPr>
        </p:pic>
        <p:pic>
          <p:nvPicPr>
            <p:cNvPr id="1030" name="Picture 6" descr="https://imgr.whimsical.com/object/5RRg3NDWGLaz6LW5yT5XpY"/>
            <p:cNvPicPr>
              <a:picLocks noChangeAspect="1" noChangeArrowheads="1"/>
            </p:cNvPicPr>
            <p:nvPr/>
          </p:nvPicPr>
          <p:blipFill>
            <a:blip r:embed="rId5"/>
            <a:srcRect/>
            <a:stretch>
              <a:fillRect/>
            </a:stretch>
          </p:blipFill>
          <p:spPr bwMode="auto">
            <a:xfrm>
              <a:off x="18399125" y="4359592"/>
              <a:ext cx="3200400" cy="1143001"/>
            </a:xfrm>
            <a:prstGeom prst="rect">
              <a:avLst/>
            </a:prstGeom>
            <a:noFill/>
          </p:spPr>
        </p:pic>
        <p:pic>
          <p:nvPicPr>
            <p:cNvPr id="1034" name="Picture 10" descr="https://imgr.whimsical.com/object/Chb9rckFCZrgkFMGR4iMPf"/>
            <p:cNvPicPr>
              <a:picLocks noChangeAspect="1" noChangeArrowheads="1"/>
            </p:cNvPicPr>
            <p:nvPr/>
          </p:nvPicPr>
          <p:blipFill>
            <a:blip r:embed="rId6"/>
            <a:srcRect/>
            <a:stretch>
              <a:fillRect/>
            </a:stretch>
          </p:blipFill>
          <p:spPr bwMode="auto">
            <a:xfrm>
              <a:off x="17529175" y="7559992"/>
              <a:ext cx="609600" cy="838201"/>
            </a:xfrm>
            <a:prstGeom prst="rect">
              <a:avLst/>
            </a:prstGeom>
            <a:noFill/>
          </p:spPr>
        </p:pic>
        <p:pic>
          <p:nvPicPr>
            <p:cNvPr id="44" name="Picture 10" descr="https://imgr.whimsical.com/object/Chb9rckFCZrgkFMGR4iMPf"/>
            <p:cNvPicPr>
              <a:picLocks noChangeAspect="1" noChangeArrowheads="1"/>
            </p:cNvPicPr>
            <p:nvPr/>
          </p:nvPicPr>
          <p:blipFill>
            <a:blip r:embed="rId6"/>
            <a:srcRect/>
            <a:stretch>
              <a:fillRect/>
            </a:stretch>
          </p:blipFill>
          <p:spPr bwMode="auto">
            <a:xfrm>
              <a:off x="18748375" y="5380672"/>
              <a:ext cx="609600" cy="838201"/>
            </a:xfrm>
            <a:prstGeom prst="rect">
              <a:avLst/>
            </a:prstGeom>
            <a:noFill/>
          </p:spPr>
        </p:pic>
      </p:grpSp>
      <p:pic>
        <p:nvPicPr>
          <p:cNvPr id="45" name="image1.png"/>
          <p:cNvPicPr/>
          <p:nvPr/>
        </p:nvPicPr>
        <p:blipFill>
          <a:blip r:embed="rId7"/>
          <a:srcRect t="1287" b="1287"/>
          <a:stretch>
            <a:fillRect/>
          </a:stretch>
        </p:blipFill>
        <p:spPr>
          <a:xfrm>
            <a:off x="481802" y="17212131"/>
            <a:ext cx="5553238" cy="3017468"/>
          </a:xfrm>
          <a:prstGeom prst="rect">
            <a:avLst/>
          </a:prstGeom>
          <a:ln w="25400">
            <a:solidFill>
              <a:srgbClr val="000000"/>
            </a:solidFill>
            <a:prstDash val="solid"/>
          </a:ln>
        </p:spPr>
      </p:pic>
      <p:sp>
        <p:nvSpPr>
          <p:cNvPr id="1040" name="AutoShape 16" descr="blob:https://web.whatsapp.com/5c031f34-05b9-4d3b-8386-3a6f247d8f58"/>
          <p:cNvSpPr>
            <a:spLocks noChangeAspect="1" noChangeArrowheads="1"/>
          </p:cNvSpPr>
          <p:nvPr/>
        </p:nvSpPr>
        <p:spPr bwMode="auto">
          <a:xfrm>
            <a:off x="155575" y="-145163"/>
            <a:ext cx="304800" cy="30627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42" name="AutoShape 18" descr="blob:https://web.whatsapp.com/5c031f34-05b9-4d3b-8386-3a6f247d8f58"/>
          <p:cNvSpPr>
            <a:spLocks noChangeAspect="1" noChangeArrowheads="1"/>
          </p:cNvSpPr>
          <p:nvPr/>
        </p:nvSpPr>
        <p:spPr bwMode="auto">
          <a:xfrm>
            <a:off x="155575" y="-145163"/>
            <a:ext cx="304800" cy="30627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46" name="AutoShape 22" descr="blob:https://web.whatsapp.com/5c031f34-05b9-4d3b-8386-3a6f247d8f58"/>
          <p:cNvSpPr>
            <a:spLocks noChangeAspect="1" noChangeArrowheads="1"/>
          </p:cNvSpPr>
          <p:nvPr/>
        </p:nvSpPr>
        <p:spPr bwMode="auto">
          <a:xfrm>
            <a:off x="155575" y="-145163"/>
            <a:ext cx="304800" cy="30627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048" name="Picture 24" descr="C:\Users\ICON\Downloads\WhatsApp Image 2024-04-04 at 7.48.43 PM (3).jpeg"/>
          <p:cNvPicPr>
            <a:picLocks noChangeAspect="1" noChangeArrowheads="1"/>
          </p:cNvPicPr>
          <p:nvPr/>
        </p:nvPicPr>
        <p:blipFill>
          <a:blip r:embed="rId8"/>
          <a:srcRect/>
          <a:stretch>
            <a:fillRect/>
          </a:stretch>
        </p:blipFill>
        <p:spPr bwMode="auto">
          <a:xfrm>
            <a:off x="16291561" y="16491866"/>
            <a:ext cx="2270760" cy="4941890"/>
          </a:xfrm>
          <a:prstGeom prst="rect">
            <a:avLst/>
          </a:prstGeom>
          <a:noFill/>
        </p:spPr>
      </p:pic>
      <p:pic>
        <p:nvPicPr>
          <p:cNvPr id="1050" name="Picture 26" descr="C:\Users\ICON\Downloads\WhatsApp Image 2024-04-05 at 12.57.43 AM (1).jpeg"/>
          <p:cNvPicPr>
            <a:picLocks noChangeAspect="1" noChangeArrowheads="1"/>
          </p:cNvPicPr>
          <p:nvPr/>
        </p:nvPicPr>
        <p:blipFill>
          <a:blip r:embed="rId9" cstate="print"/>
          <a:srcRect/>
          <a:stretch>
            <a:fillRect/>
          </a:stretch>
        </p:blipFill>
        <p:spPr bwMode="auto">
          <a:xfrm>
            <a:off x="19001714" y="16480806"/>
            <a:ext cx="2258086" cy="4912644"/>
          </a:xfrm>
          <a:prstGeom prst="rect">
            <a:avLst/>
          </a:prstGeom>
          <a:noFill/>
        </p:spPr>
      </p:pic>
      <p:sp>
        <p:nvSpPr>
          <p:cNvPr id="61" name="TextBox 60"/>
          <p:cNvSpPr txBox="1"/>
          <p:nvPr/>
        </p:nvSpPr>
        <p:spPr>
          <a:xfrm>
            <a:off x="609600" y="11822293"/>
            <a:ext cx="3230880" cy="371122"/>
          </a:xfrm>
          <a:prstGeom prst="rect">
            <a:avLst/>
          </a:prstGeom>
          <a:noFill/>
        </p:spPr>
        <p:txBody>
          <a:bodyPr wrap="square" rtlCol="0">
            <a:spAutoFit/>
          </a:bodyPr>
          <a:lstStyle/>
          <a:p>
            <a:endParaRPr lang="en-US" dirty="0"/>
          </a:p>
        </p:txBody>
      </p:sp>
      <p:sp>
        <p:nvSpPr>
          <p:cNvPr id="102" name="Right Arrow 101"/>
          <p:cNvSpPr/>
          <p:nvPr/>
        </p:nvSpPr>
        <p:spPr>
          <a:xfrm>
            <a:off x="7345680" y="14895273"/>
            <a:ext cx="335280" cy="2348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4" name="Group 123"/>
          <p:cNvGrpSpPr/>
          <p:nvPr/>
        </p:nvGrpSpPr>
        <p:grpSpPr>
          <a:xfrm>
            <a:off x="1" y="9990228"/>
            <a:ext cx="21599525" cy="5824220"/>
            <a:chOff x="0" y="9942049"/>
            <a:chExt cx="21599525" cy="5796133"/>
          </a:xfrm>
        </p:grpSpPr>
        <p:sp>
          <p:nvSpPr>
            <p:cNvPr id="5" name="Rectangle 4"/>
            <p:cNvSpPr/>
            <p:nvPr/>
          </p:nvSpPr>
          <p:spPr>
            <a:xfrm>
              <a:off x="0" y="9942049"/>
              <a:ext cx="21599525" cy="5796133"/>
            </a:xfrm>
            <a:prstGeom prst="rect">
              <a:avLst/>
            </a:prstGeom>
            <a:solidFill>
              <a:srgbClr val="BFE7FF"/>
            </a:solidFill>
            <a:ln>
              <a:solidFill>
                <a:schemeClr val="accent1"/>
              </a:solidFill>
              <a:prstDash val="solid"/>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grpSp>
          <p:nvGrpSpPr>
            <p:cNvPr id="63" name="Group 62"/>
            <p:cNvGrpSpPr/>
            <p:nvPr/>
          </p:nvGrpSpPr>
          <p:grpSpPr>
            <a:xfrm>
              <a:off x="182881" y="11948160"/>
              <a:ext cx="2926080" cy="2423160"/>
              <a:chOff x="624840" y="11628120"/>
              <a:chExt cx="3230880" cy="2621280"/>
            </a:xfrm>
          </p:grpSpPr>
          <p:sp>
            <p:nvSpPr>
              <p:cNvPr id="57" name="Rectangle 56"/>
              <p:cNvSpPr/>
              <p:nvPr/>
            </p:nvSpPr>
            <p:spPr>
              <a:xfrm>
                <a:off x="624840" y="11628120"/>
                <a:ext cx="3230880" cy="262128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p:cNvSpPr txBox="1"/>
              <p:nvPr/>
            </p:nvSpPr>
            <p:spPr>
              <a:xfrm>
                <a:off x="640080" y="12298680"/>
                <a:ext cx="3215640" cy="1598116"/>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Data Collection</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Processing and measuring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the data  of sample size of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N = 10, N = 10</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Total = 20</a:t>
                </a:r>
              </a:p>
            </p:txBody>
          </p:sp>
        </p:grpSp>
        <p:sp>
          <p:nvSpPr>
            <p:cNvPr id="64" name="Right Arrow 63"/>
            <p:cNvSpPr/>
            <p:nvPr/>
          </p:nvSpPr>
          <p:spPr>
            <a:xfrm>
              <a:off x="3246120" y="12938760"/>
              <a:ext cx="838200"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Up Arrow 68"/>
            <p:cNvSpPr/>
            <p:nvPr/>
          </p:nvSpPr>
          <p:spPr>
            <a:xfrm>
              <a:off x="5445760" y="11993880"/>
              <a:ext cx="304800" cy="25908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Down Arrow 70"/>
            <p:cNvSpPr/>
            <p:nvPr/>
          </p:nvSpPr>
          <p:spPr>
            <a:xfrm>
              <a:off x="5461000" y="14178280"/>
              <a:ext cx="274320" cy="289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lowchart: Terminator 72">
              <a:extLst>
                <a:ext uri="{FF2B5EF4-FFF2-40B4-BE49-F238E27FC236}">
                  <a16:creationId xmlns="" xmlns:a16="http://schemas.microsoft.com/office/drawing/2014/main" id="{90C18176-DB2D-8A7C-EC80-4700A3A3CEBC}"/>
                </a:ext>
              </a:extLst>
            </p:cNvPr>
            <p:cNvSpPr/>
            <p:nvPr/>
          </p:nvSpPr>
          <p:spPr>
            <a:xfrm>
              <a:off x="4101942" y="10952444"/>
              <a:ext cx="3055778" cy="947642"/>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Android</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Application</a:t>
              </a:r>
            </a:p>
          </p:txBody>
        </p:sp>
        <p:sp>
          <p:nvSpPr>
            <p:cNvPr id="74" name="Flowchart: Terminator 73">
              <a:extLst>
                <a:ext uri="{FF2B5EF4-FFF2-40B4-BE49-F238E27FC236}">
                  <a16:creationId xmlns="" xmlns:a16="http://schemas.microsoft.com/office/drawing/2014/main" id="{FF0E4F9A-29F0-45B3-435D-6AD8322398ED}"/>
                </a:ext>
              </a:extLst>
            </p:cNvPr>
            <p:cNvSpPr/>
            <p:nvPr/>
          </p:nvSpPr>
          <p:spPr>
            <a:xfrm>
              <a:off x="4040556" y="14565109"/>
              <a:ext cx="3152724" cy="833881"/>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iOS</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Application</a:t>
              </a:r>
            </a:p>
          </p:txBody>
        </p:sp>
        <p:sp>
          <p:nvSpPr>
            <p:cNvPr id="75" name="Flowchart: Process 74">
              <a:extLst>
                <a:ext uri="{FF2B5EF4-FFF2-40B4-BE49-F238E27FC236}">
                  <a16:creationId xmlns="" xmlns:a16="http://schemas.microsoft.com/office/drawing/2014/main" id="{F20469D1-FF1C-91EB-CCC8-EAE25FEFA3D3}"/>
                </a:ext>
              </a:extLst>
            </p:cNvPr>
            <p:cNvSpPr/>
            <p:nvPr/>
          </p:nvSpPr>
          <p:spPr>
            <a:xfrm>
              <a:off x="4230513" y="12337960"/>
              <a:ext cx="2779887" cy="1733640"/>
            </a:xfrm>
            <a:prstGeom prst="flowChartProcess">
              <a:avLst/>
            </a:prstGeom>
            <a:no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Choose Application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Strategy</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Analysis &amp; Planning.</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UI/UX Design.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App Development.</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Testing.</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Deployment &amp; Support.</a:t>
              </a:r>
            </a:p>
          </p:txBody>
        </p:sp>
        <p:sp>
          <p:nvSpPr>
            <p:cNvPr id="98" name="Flowchart: Process 97">
              <a:extLst>
                <a:ext uri="{FF2B5EF4-FFF2-40B4-BE49-F238E27FC236}">
                  <a16:creationId xmlns="" xmlns:a16="http://schemas.microsoft.com/office/drawing/2014/main" id="{F20469D1-FF1C-91EB-CCC8-EAE25FEFA3D3}"/>
                </a:ext>
              </a:extLst>
            </p:cNvPr>
            <p:cNvSpPr/>
            <p:nvPr/>
          </p:nvSpPr>
          <p:spPr>
            <a:xfrm>
              <a:off x="7700152" y="10972801"/>
              <a:ext cx="3211688" cy="1727200"/>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Android Application Process</a:t>
              </a:r>
            </a:p>
            <a:p>
              <a:pPr marL="342900" indent="-342900" algn="ct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Database – XAMPP(MySQL)</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PHP- Visual Studio code.</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Testing- Postman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Output- Android Studio</a:t>
              </a:r>
            </a:p>
            <a:p>
              <a:pPr algn="ctr">
                <a:buFont typeface="Wingdings" pitchFamily="2" charset="2"/>
                <a:buChar char="q"/>
              </a:pP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100" name="Flowchart: Process 99">
              <a:extLst>
                <a:ext uri="{FF2B5EF4-FFF2-40B4-BE49-F238E27FC236}">
                  <a16:creationId xmlns="" xmlns:a16="http://schemas.microsoft.com/office/drawing/2014/main" id="{F20469D1-FF1C-91EB-CCC8-EAE25FEFA3D3}"/>
                </a:ext>
              </a:extLst>
            </p:cNvPr>
            <p:cNvSpPr/>
            <p:nvPr/>
          </p:nvSpPr>
          <p:spPr>
            <a:xfrm>
              <a:off x="7740792" y="13736321"/>
              <a:ext cx="3211688" cy="1727200"/>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iOS Application Process</a:t>
              </a:r>
            </a:p>
            <a:p>
              <a:pPr marL="342900" indent="-342900" algn="ct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Database – XAMPP(MySQL)</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PHP- Visual Studio code.</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Testing- Postman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Output- Swift Xcode</a:t>
              </a:r>
            </a:p>
            <a:p>
              <a:pPr algn="ctr">
                <a:buFont typeface="Wingdings" pitchFamily="2" charset="2"/>
                <a:buChar char="q"/>
              </a:pP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101" name="Right Arrow 100"/>
            <p:cNvSpPr/>
            <p:nvPr/>
          </p:nvSpPr>
          <p:spPr>
            <a:xfrm>
              <a:off x="7294880" y="1132840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Flowchart: Process 102">
              <a:extLst>
                <a:ext uri="{FF2B5EF4-FFF2-40B4-BE49-F238E27FC236}">
                  <a16:creationId xmlns="" xmlns:a16="http://schemas.microsoft.com/office/drawing/2014/main" id="{B4B23B58-2355-33FA-FF67-961ADA84137E}"/>
                </a:ext>
              </a:extLst>
            </p:cNvPr>
            <p:cNvSpPr/>
            <p:nvPr/>
          </p:nvSpPr>
          <p:spPr>
            <a:xfrm>
              <a:off x="11607150" y="13644879"/>
              <a:ext cx="2403490" cy="1798321"/>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User inputs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(GET/POST)</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for Structure Model &amp;</a:t>
              </a:r>
            </a:p>
            <a:p>
              <a:pPr algn="ctr"/>
              <a:r>
                <a:rPr lang="en-IN" b="1" dirty="0">
                  <a:solidFill>
                    <a:schemeClr val="tx1"/>
                  </a:solidFill>
                  <a:latin typeface="Times New Roman" panose="02020603050405020304" pitchFamily="18" charset="0"/>
                  <a:cs typeface="Times New Roman" panose="02020603050405020304" pitchFamily="18" charset="0"/>
                </a:rPr>
                <a:t>backend connection</a:t>
              </a:r>
            </a:p>
          </p:txBody>
        </p:sp>
        <p:sp>
          <p:nvSpPr>
            <p:cNvPr id="104" name="Right Arrow 103"/>
            <p:cNvSpPr/>
            <p:nvPr/>
          </p:nvSpPr>
          <p:spPr>
            <a:xfrm>
              <a:off x="11094720" y="1474216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ight Arrow 104"/>
            <p:cNvSpPr/>
            <p:nvPr/>
          </p:nvSpPr>
          <p:spPr>
            <a:xfrm>
              <a:off x="11043920" y="1130808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Flowchart: Process 105">
              <a:extLst>
                <a:ext uri="{FF2B5EF4-FFF2-40B4-BE49-F238E27FC236}">
                  <a16:creationId xmlns="" xmlns:a16="http://schemas.microsoft.com/office/drawing/2014/main" id="{B4B23B58-2355-33FA-FF67-961ADA84137E}"/>
                </a:ext>
              </a:extLst>
            </p:cNvPr>
            <p:cNvSpPr/>
            <p:nvPr/>
          </p:nvSpPr>
          <p:spPr>
            <a:xfrm>
              <a:off x="11525870" y="10921999"/>
              <a:ext cx="2403490" cy="1798321"/>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Creating </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URL for backend </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connection with database</a:t>
              </a:r>
            </a:p>
          </p:txBody>
        </p:sp>
        <p:sp>
          <p:nvSpPr>
            <p:cNvPr id="107" name="Flowchart: Magnetic Disk 106"/>
            <p:cNvSpPr/>
            <p:nvPr/>
          </p:nvSpPr>
          <p:spPr>
            <a:xfrm>
              <a:off x="15075255" y="11779362"/>
              <a:ext cx="2141317" cy="2430684"/>
            </a:xfrm>
            <a:prstGeom prst="flowChartMagneticDisk">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Develop and Test the Data</a:t>
              </a:r>
            </a:p>
          </p:txBody>
        </p:sp>
        <p:cxnSp>
          <p:nvCxnSpPr>
            <p:cNvPr id="109" name="Curved Connector 108"/>
            <p:cNvCxnSpPr/>
            <p:nvPr/>
          </p:nvCxnSpPr>
          <p:spPr>
            <a:xfrm>
              <a:off x="13970643" y="11875625"/>
              <a:ext cx="879676" cy="590309"/>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14" name="Curved Connector 113"/>
            <p:cNvCxnSpPr/>
            <p:nvPr/>
          </p:nvCxnSpPr>
          <p:spPr>
            <a:xfrm flipV="1">
              <a:off x="14086390" y="13519230"/>
              <a:ext cx="775504" cy="694481"/>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16" name="Flowchart: Terminator 115">
              <a:extLst>
                <a:ext uri="{FF2B5EF4-FFF2-40B4-BE49-F238E27FC236}">
                  <a16:creationId xmlns="" xmlns:a16="http://schemas.microsoft.com/office/drawing/2014/main" id="{90C18176-DB2D-8A7C-EC80-4700A3A3CEBC}"/>
                </a:ext>
              </a:extLst>
            </p:cNvPr>
            <p:cNvSpPr/>
            <p:nvPr/>
          </p:nvSpPr>
          <p:spPr>
            <a:xfrm>
              <a:off x="14495043" y="10441422"/>
              <a:ext cx="3055778" cy="947642"/>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Retrieve User Data from the Database</a:t>
              </a:r>
            </a:p>
          </p:txBody>
        </p:sp>
        <p:sp>
          <p:nvSpPr>
            <p:cNvPr id="117" name="Flowchart: Terminator 116">
              <a:extLst>
                <a:ext uri="{FF2B5EF4-FFF2-40B4-BE49-F238E27FC236}">
                  <a16:creationId xmlns="" xmlns:a16="http://schemas.microsoft.com/office/drawing/2014/main" id="{90C18176-DB2D-8A7C-EC80-4700A3A3CEBC}"/>
                </a:ext>
              </a:extLst>
            </p:cNvPr>
            <p:cNvSpPr/>
            <p:nvPr/>
          </p:nvSpPr>
          <p:spPr>
            <a:xfrm>
              <a:off x="14638763" y="14694924"/>
              <a:ext cx="3055778" cy="947642"/>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Compare the user data</a:t>
              </a:r>
            </a:p>
          </p:txBody>
        </p:sp>
        <p:sp>
          <p:nvSpPr>
            <p:cNvPr id="119" name="Up Arrow 118"/>
            <p:cNvSpPr/>
            <p:nvPr/>
          </p:nvSpPr>
          <p:spPr>
            <a:xfrm>
              <a:off x="15917569" y="11449870"/>
              <a:ext cx="304800" cy="25908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Down Arrow 119"/>
            <p:cNvSpPr/>
            <p:nvPr/>
          </p:nvSpPr>
          <p:spPr>
            <a:xfrm>
              <a:off x="16030616" y="14330681"/>
              <a:ext cx="274320" cy="289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Flowchart: Process 120">
              <a:extLst>
                <a:ext uri="{FF2B5EF4-FFF2-40B4-BE49-F238E27FC236}">
                  <a16:creationId xmlns="" xmlns:a16="http://schemas.microsoft.com/office/drawing/2014/main" id="{59745CF5-9AE5-6F4E-35A7-E58A50BC38ED}"/>
                </a:ext>
              </a:extLst>
            </p:cNvPr>
            <p:cNvSpPr/>
            <p:nvPr/>
          </p:nvSpPr>
          <p:spPr>
            <a:xfrm>
              <a:off x="18945586" y="11803849"/>
              <a:ext cx="2284246" cy="2211686"/>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Calculating</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Response</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time</a:t>
              </a:r>
            </a:p>
          </p:txBody>
        </p:sp>
        <p:sp>
          <p:nvSpPr>
            <p:cNvPr id="123" name="Right Arrow 122"/>
            <p:cNvSpPr/>
            <p:nvPr/>
          </p:nvSpPr>
          <p:spPr>
            <a:xfrm>
              <a:off x="17708301" y="12654216"/>
              <a:ext cx="1030147" cy="4861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9" name="Rectangle 128"/>
          <p:cNvSpPr/>
          <p:nvPr/>
        </p:nvSpPr>
        <p:spPr>
          <a:xfrm>
            <a:off x="333479" y="10129930"/>
            <a:ext cx="5296748"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MATERIALS AND METHODS</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130" name="TextBox 129">
            <a:extLst>
              <a:ext uri="{FF2B5EF4-FFF2-40B4-BE49-F238E27FC236}">
                <a16:creationId xmlns="" xmlns:a16="http://schemas.microsoft.com/office/drawing/2014/main" id="{23AFED97-9AB8-64F2-31DC-77ECA5114D4F}"/>
              </a:ext>
            </a:extLst>
          </p:cNvPr>
          <p:cNvSpPr txBox="1"/>
          <p:nvPr/>
        </p:nvSpPr>
        <p:spPr>
          <a:xfrm>
            <a:off x="563880" y="20556694"/>
            <a:ext cx="5440680" cy="649463"/>
          </a:xfrm>
          <a:prstGeom prst="rect">
            <a:avLst/>
          </a:prstGeom>
          <a:noFill/>
        </p:spPr>
        <p:txBody>
          <a:bodyPr wrap="square" rtlCol="0">
            <a:spAutoFit/>
          </a:bodyPr>
          <a:lstStyle/>
          <a:p>
            <a:pPr algn="ctr"/>
            <a:r>
              <a:rPr lang="en-IN" b="1" dirty="0">
                <a:latin typeface="Times New Roman" pitchFamily="18" charset="0"/>
                <a:cs typeface="Times New Roman" pitchFamily="18" charset="0"/>
              </a:rPr>
              <a:t>Fig 2: Comparision of Andriod and iOS Application in terms of  Response Time. </a:t>
            </a:r>
          </a:p>
        </p:txBody>
      </p:sp>
      <p:sp>
        <p:nvSpPr>
          <p:cNvPr id="131" name="TextBox 130">
            <a:extLst>
              <a:ext uri="{FF2B5EF4-FFF2-40B4-BE49-F238E27FC236}">
                <a16:creationId xmlns="" xmlns:a16="http://schemas.microsoft.com/office/drawing/2014/main" id="{23AFED97-9AB8-64F2-31DC-77ECA5114D4F}"/>
              </a:ext>
            </a:extLst>
          </p:cNvPr>
          <p:cNvSpPr txBox="1"/>
          <p:nvPr/>
        </p:nvSpPr>
        <p:spPr>
          <a:xfrm>
            <a:off x="6261904" y="18719032"/>
            <a:ext cx="6935936" cy="3154534"/>
          </a:xfrm>
          <a:prstGeom prst="rect">
            <a:avLst/>
          </a:prstGeom>
          <a:noFill/>
        </p:spPr>
        <p:txBody>
          <a:bodyPr wrap="square" rtlCol="0">
            <a:spAutoFit/>
          </a:bodyPr>
          <a:lstStyle/>
          <a:p>
            <a:pPr>
              <a:buFont typeface="Wingdings" pitchFamily="2" charset="2"/>
              <a:buChar char="Ø"/>
            </a:pPr>
            <a:r>
              <a:rPr lang="en-IN" b="1" dirty="0">
                <a:latin typeface="Times New Roman" pitchFamily="18" charset="0"/>
                <a:cs typeface="Times New Roman" pitchFamily="18" charset="0"/>
              </a:rPr>
              <a:t>Comparision of Andriod and iOS Application in terms of Response Time.  The Mean Recovery Rate of iOS is significantly higher than Android in Medication-Reminder. </a:t>
            </a:r>
          </a:p>
          <a:p>
            <a:pPr>
              <a:buFont typeface="Wingdings" pitchFamily="2" charset="2"/>
              <a:buChar char="Ø"/>
            </a:pPr>
            <a:endParaRPr lang="en-IN" b="1" dirty="0">
              <a:latin typeface="Times New Roman" pitchFamily="18" charset="0"/>
              <a:cs typeface="Times New Roman" pitchFamily="18" charset="0"/>
            </a:endParaRPr>
          </a:p>
          <a:p>
            <a:pPr>
              <a:buFont typeface="Wingdings" pitchFamily="2" charset="2"/>
              <a:buChar char="Ø"/>
            </a:pPr>
            <a:r>
              <a:rPr lang="en-US" b="1" dirty="0">
                <a:latin typeface="Times New Roman" pitchFamily="18" charset="0"/>
                <a:cs typeface="Times New Roman" pitchFamily="18" charset="0"/>
              </a:rPr>
              <a:t>UI responsiveness significantly impacts user satisfaction and perception of application performance. </a:t>
            </a:r>
          </a:p>
          <a:p>
            <a:pPr>
              <a:buFont typeface="Wingdings" pitchFamily="2" charset="2"/>
              <a:buChar char="Ø"/>
            </a:pPr>
            <a:endParaRPr lang="en-US" b="1" dirty="0">
              <a:latin typeface="Times New Roman" pitchFamily="18" charset="0"/>
              <a:cs typeface="Times New Roman" pitchFamily="18" charset="0"/>
            </a:endParaRPr>
          </a:p>
          <a:p>
            <a:pPr>
              <a:buFont typeface="Wingdings" pitchFamily="2" charset="2"/>
              <a:buChar char="Ø"/>
            </a:pPr>
            <a:r>
              <a:rPr lang="en-US" b="1" dirty="0">
                <a:latin typeface="Times New Roman" pitchFamily="18" charset="0"/>
                <a:cs typeface="Times New Roman" pitchFamily="18" charset="0"/>
              </a:rPr>
              <a:t>If users experience delays or lag in the interface responsiveness, it can lead to frustration and dissatisfaction, regardless of the actual response time of the application.</a:t>
            </a:r>
            <a:endParaRPr lang="en-IN" b="1" dirty="0">
              <a:latin typeface="Times New Roman" pitchFamily="18" charset="0"/>
              <a:cs typeface="Times New Roman" pitchFamily="18" charset="0"/>
            </a:endParaRPr>
          </a:p>
          <a:p>
            <a:endParaRPr lang="en-IN" b="1" dirty="0">
              <a:latin typeface="Times New Roman" pitchFamily="18" charset="0"/>
              <a:cs typeface="Times New Roman" pitchFamily="18" charset="0"/>
            </a:endParaRPr>
          </a:p>
        </p:txBody>
      </p:sp>
      <p:pic>
        <p:nvPicPr>
          <p:cNvPr id="72" name="Picture 71" descr="WhatsApp Image 2024-04-04 at 7.48.43 PM (1).jpeg"/>
          <p:cNvPicPr>
            <a:picLocks noChangeAspect="1"/>
          </p:cNvPicPr>
          <p:nvPr/>
        </p:nvPicPr>
        <p:blipFill>
          <a:blip r:embed="rId10"/>
          <a:stretch>
            <a:fillRect/>
          </a:stretch>
        </p:blipFill>
        <p:spPr>
          <a:xfrm>
            <a:off x="13592492" y="16505143"/>
            <a:ext cx="2239102" cy="4872994"/>
          </a:xfrm>
          <a:prstGeom prst="rect">
            <a:avLst/>
          </a:prstGeom>
        </p:spPr>
      </p:pic>
      <p:sp>
        <p:nvSpPr>
          <p:cNvPr id="76" name="TextBox 75">
            <a:extLst>
              <a:ext uri="{FF2B5EF4-FFF2-40B4-BE49-F238E27FC236}">
                <a16:creationId xmlns="" xmlns:a16="http://schemas.microsoft.com/office/drawing/2014/main" id="{23AFED97-9AB8-64F2-31DC-77ECA5114D4F}"/>
              </a:ext>
            </a:extLst>
          </p:cNvPr>
          <p:cNvSpPr txBox="1"/>
          <p:nvPr/>
        </p:nvSpPr>
        <p:spPr>
          <a:xfrm>
            <a:off x="13704425" y="21486574"/>
            <a:ext cx="1994684" cy="371122"/>
          </a:xfrm>
          <a:prstGeom prst="rect">
            <a:avLst/>
          </a:prstGeom>
          <a:noFill/>
        </p:spPr>
        <p:txBody>
          <a:bodyPr wrap="square" rtlCol="0">
            <a:spAutoFit/>
          </a:bodyPr>
          <a:lstStyle/>
          <a:p>
            <a:r>
              <a:rPr lang="en-IN" b="1" dirty="0">
                <a:latin typeface="Times New Roman" pitchFamily="18" charset="0"/>
                <a:cs typeface="Times New Roman" pitchFamily="18" charset="0"/>
              </a:rPr>
              <a:t>Fig 3:Admin Page</a:t>
            </a:r>
          </a:p>
        </p:txBody>
      </p:sp>
      <p:sp>
        <p:nvSpPr>
          <p:cNvPr id="80" name="Right Arrow 79"/>
          <p:cNvSpPr/>
          <p:nvPr/>
        </p:nvSpPr>
        <p:spPr>
          <a:xfrm>
            <a:off x="7340600" y="14890168"/>
            <a:ext cx="335280" cy="2348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7" name="Table 76"/>
          <p:cNvGraphicFramePr>
            <a:graphicFrameLocks noGrp="1"/>
          </p:cNvGraphicFramePr>
          <p:nvPr/>
        </p:nvGraphicFramePr>
        <p:xfrm>
          <a:off x="6504972" y="16225026"/>
          <a:ext cx="6655442" cy="2036129"/>
        </p:xfrm>
        <a:graphic>
          <a:graphicData uri="http://schemas.openxmlformats.org/drawingml/2006/table">
            <a:tbl>
              <a:tblPr/>
              <a:tblGrid>
                <a:gridCol w="1203767">
                  <a:extLst>
                    <a:ext uri="{9D8B030D-6E8A-4147-A177-3AD203B41FA5}">
                      <a16:colId xmlns="" xmlns:a16="http://schemas.microsoft.com/office/drawing/2014/main" val="20000"/>
                    </a:ext>
                  </a:extLst>
                </a:gridCol>
                <a:gridCol w="1020752">
                  <a:extLst>
                    <a:ext uri="{9D8B030D-6E8A-4147-A177-3AD203B41FA5}">
                      <a16:colId xmlns="" xmlns:a16="http://schemas.microsoft.com/office/drawing/2014/main" val="20001"/>
                    </a:ext>
                  </a:extLst>
                </a:gridCol>
                <a:gridCol w="842293">
                  <a:extLst>
                    <a:ext uri="{9D8B030D-6E8A-4147-A177-3AD203B41FA5}">
                      <a16:colId xmlns="" xmlns:a16="http://schemas.microsoft.com/office/drawing/2014/main" val="20002"/>
                    </a:ext>
                  </a:extLst>
                </a:gridCol>
                <a:gridCol w="1183670">
                  <a:extLst>
                    <a:ext uri="{9D8B030D-6E8A-4147-A177-3AD203B41FA5}">
                      <a16:colId xmlns="" xmlns:a16="http://schemas.microsoft.com/office/drawing/2014/main" val="20003"/>
                    </a:ext>
                  </a:extLst>
                </a:gridCol>
                <a:gridCol w="1202480">
                  <a:extLst>
                    <a:ext uri="{9D8B030D-6E8A-4147-A177-3AD203B41FA5}">
                      <a16:colId xmlns="" xmlns:a16="http://schemas.microsoft.com/office/drawing/2014/main" val="20004"/>
                    </a:ext>
                  </a:extLst>
                </a:gridCol>
                <a:gridCol w="1202480">
                  <a:extLst>
                    <a:ext uri="{9D8B030D-6E8A-4147-A177-3AD203B41FA5}">
                      <a16:colId xmlns="" xmlns:a16="http://schemas.microsoft.com/office/drawing/2014/main" val="20005"/>
                    </a:ext>
                  </a:extLst>
                </a:gridCol>
              </a:tblGrid>
              <a:tr h="426755">
                <a:tc gridSpan="6">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Group Statistics</a:t>
                      </a:r>
                      <a:endParaRPr lang="en-US" sz="1400"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621742">
                <a:tc>
                  <a:txBody>
                    <a:bodyPr/>
                    <a:lstStyle/>
                    <a:p>
                      <a:pPr marL="88900" marR="88900" algn="ctr">
                        <a:lnSpc>
                          <a:spcPct val="115000"/>
                        </a:lnSpc>
                        <a:spcBef>
                          <a:spcPts val="1200"/>
                        </a:spcBef>
                        <a:spcAft>
                          <a:spcPts val="1200"/>
                        </a:spcAft>
                      </a:pPr>
                      <a:r>
                        <a:rPr lang="en-US" sz="1400" b="1" dirty="0">
                          <a:latin typeface="Times New Roman"/>
                          <a:ea typeface="Times New Roman"/>
                          <a:cs typeface="Times New Roman"/>
                        </a:rPr>
                        <a:t> </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27000" algn="ctr">
                        <a:lnSpc>
                          <a:spcPct val="145000"/>
                        </a:lnSpc>
                        <a:spcBef>
                          <a:spcPts val="0"/>
                        </a:spcBef>
                        <a:spcAft>
                          <a:spcPts val="0"/>
                        </a:spcAft>
                      </a:pPr>
                      <a:r>
                        <a:rPr lang="en-US" sz="1400" b="1" dirty="0">
                          <a:latin typeface="Times New Roman"/>
                          <a:ea typeface="Times New Roman"/>
                          <a:cs typeface="Times New Roman"/>
                        </a:rPr>
                        <a:t>Algorithm</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N</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Mean</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Std. Deviation</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Std. Error Mean</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536491">
                <a:tc rowSpan="2">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Response time</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27000">
                        <a:lnSpc>
                          <a:spcPct val="145000"/>
                        </a:lnSpc>
                        <a:spcBef>
                          <a:spcPts val="0"/>
                        </a:spcBef>
                        <a:spcAft>
                          <a:spcPts val="0"/>
                        </a:spcAft>
                      </a:pPr>
                      <a:r>
                        <a:rPr lang="en-US" sz="1400" b="1" dirty="0">
                          <a:latin typeface="Times New Roman"/>
                          <a:ea typeface="Times New Roman"/>
                          <a:cs typeface="Times New Roman"/>
                        </a:rPr>
                        <a:t>   Android</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10</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29.1000</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7.26407</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2.29710</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451141">
                <a:tc vMerge="1">
                  <a:txBody>
                    <a:bodyPr/>
                    <a:lstStyle/>
                    <a:p>
                      <a:endParaRPr lang="en-US"/>
                    </a:p>
                  </a:txBody>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iOS</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10</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30.9000</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6.29727</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0" marR="127000" algn="ctr">
                        <a:lnSpc>
                          <a:spcPct val="145000"/>
                        </a:lnSpc>
                        <a:spcBef>
                          <a:spcPts val="0"/>
                        </a:spcBef>
                        <a:spcAft>
                          <a:spcPts val="0"/>
                        </a:spcAft>
                      </a:pPr>
                      <a:r>
                        <a:rPr lang="en-US" sz="1400" b="1" dirty="0">
                          <a:latin typeface="Times New Roman"/>
                          <a:ea typeface="Times New Roman"/>
                          <a:cs typeface="Times New Roman"/>
                        </a:rPr>
                        <a:t>1.99137</a:t>
                      </a:r>
                      <a:endParaRPr lang="en-US" sz="1400" b="1" dirty="0">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2628</TotalTime>
  <Words>540</Words>
  <Application>Microsoft Office PowerPoint</Application>
  <PresentationFormat>Custom</PresentationFormat>
  <Paragraphs>100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ICON</cp:lastModifiedBy>
  <cp:revision>159</cp:revision>
  <dcterms:created xsi:type="dcterms:W3CDTF">2023-04-19T08:35:00Z</dcterms:created>
  <dcterms:modified xsi:type="dcterms:W3CDTF">2024-04-15T08:10:17Z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1033-12.2.0.13489</vt:lpwstr>
  </property>
</Properties>
</file>