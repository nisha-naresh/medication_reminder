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0318" userDrawn="1">
          <p15:clr>
            <a:srgbClr val="A4A3A4"/>
          </p15:clr>
        </p15:guide>
        <p15:guide id="2" pos="67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showGuides="1">
      <p:cViewPr>
        <p:scale>
          <a:sx n="50" d="100"/>
          <a:sy n="50" d="100"/>
        </p:scale>
        <p:origin x="-336" y="6619"/>
      </p:cViewPr>
      <p:guideLst>
        <p:guide orient="horz" pos="10318"/>
        <p:guide pos="6741"/>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5"/>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70"/>
            </a:lvl1pPr>
            <a:lvl2pPr marL="1080135" indent="0" algn="ctr">
              <a:buNone/>
              <a:defRPr sz="4725"/>
            </a:lvl2pPr>
            <a:lvl3pPr marL="2160270" indent="0" algn="ctr">
              <a:buNone/>
              <a:defRPr sz="4250"/>
            </a:lvl3pPr>
            <a:lvl4pPr marL="3239770" indent="0" algn="ctr">
              <a:buNone/>
              <a:defRPr sz="3780"/>
            </a:lvl4pPr>
            <a:lvl5pPr marL="4319905" indent="0" algn="ctr">
              <a:buNone/>
              <a:defRPr sz="3780"/>
            </a:lvl5pPr>
            <a:lvl6pPr marL="5400040" indent="0" algn="ctr">
              <a:buNone/>
              <a:defRPr sz="3780"/>
            </a:lvl6pPr>
            <a:lvl7pPr marL="6480175" indent="0" algn="ctr">
              <a:buNone/>
              <a:defRPr sz="3780"/>
            </a:lvl7pPr>
            <a:lvl8pPr marL="7559675" indent="0" algn="ctr">
              <a:buNone/>
              <a:defRPr sz="3780"/>
            </a:lvl8pPr>
            <a:lvl9pPr marL="8639810"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5"/>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70">
                <a:solidFill>
                  <a:schemeClr val="tx1"/>
                </a:solidFill>
              </a:defRPr>
            </a:lvl1pPr>
            <a:lvl2pPr marL="1080135" indent="0">
              <a:buNone/>
              <a:defRPr sz="4725">
                <a:solidFill>
                  <a:schemeClr val="tx1">
                    <a:tint val="75000"/>
                  </a:schemeClr>
                </a:solidFill>
              </a:defRPr>
            </a:lvl2pPr>
            <a:lvl3pPr marL="2160270" indent="0">
              <a:buNone/>
              <a:defRPr sz="4250">
                <a:solidFill>
                  <a:schemeClr val="tx1">
                    <a:tint val="75000"/>
                  </a:schemeClr>
                </a:solidFill>
              </a:defRPr>
            </a:lvl3pPr>
            <a:lvl4pPr marL="3239770" indent="0">
              <a:buNone/>
              <a:defRPr sz="3780">
                <a:solidFill>
                  <a:schemeClr val="tx1">
                    <a:tint val="75000"/>
                  </a:schemeClr>
                </a:solidFill>
              </a:defRPr>
            </a:lvl4pPr>
            <a:lvl5pPr marL="4319905" indent="0">
              <a:buNone/>
              <a:defRPr sz="3780">
                <a:solidFill>
                  <a:schemeClr val="tx1">
                    <a:tint val="75000"/>
                  </a:schemeClr>
                </a:solidFill>
              </a:defRPr>
            </a:lvl5pPr>
            <a:lvl6pPr marL="5400040" indent="0">
              <a:buNone/>
              <a:defRPr sz="3780">
                <a:solidFill>
                  <a:schemeClr val="tx1">
                    <a:tint val="75000"/>
                  </a:schemeClr>
                </a:solidFill>
              </a:defRPr>
            </a:lvl6pPr>
            <a:lvl7pPr marL="6480175" indent="0">
              <a:buNone/>
              <a:defRPr sz="3780">
                <a:solidFill>
                  <a:schemeClr val="tx1">
                    <a:tint val="75000"/>
                  </a:schemeClr>
                </a:solidFill>
              </a:defRPr>
            </a:lvl7pPr>
            <a:lvl8pPr marL="7559675" indent="0">
              <a:buNone/>
              <a:defRPr sz="3780">
                <a:solidFill>
                  <a:schemeClr val="tx1">
                    <a:tint val="75000"/>
                  </a:schemeClr>
                </a:solidFill>
              </a:defRPr>
            </a:lvl8pPr>
            <a:lvl9pPr marL="8639810"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70" b="1"/>
            </a:lvl1pPr>
            <a:lvl2pPr marL="1080135" indent="0">
              <a:buNone/>
              <a:defRPr sz="4725" b="1"/>
            </a:lvl2pPr>
            <a:lvl3pPr marL="2160270" indent="0">
              <a:buNone/>
              <a:defRPr sz="4250" b="1"/>
            </a:lvl3pPr>
            <a:lvl4pPr marL="3239770" indent="0">
              <a:buNone/>
              <a:defRPr sz="3780" b="1"/>
            </a:lvl4pPr>
            <a:lvl5pPr marL="4319905" indent="0">
              <a:buNone/>
              <a:defRPr sz="3780" b="1"/>
            </a:lvl5pPr>
            <a:lvl6pPr marL="5400040" indent="0">
              <a:buNone/>
              <a:defRPr sz="3780" b="1"/>
            </a:lvl6pPr>
            <a:lvl7pPr marL="6480175" indent="0">
              <a:buNone/>
              <a:defRPr sz="3780" b="1"/>
            </a:lvl7pPr>
            <a:lvl8pPr marL="7559675" indent="0">
              <a:buNone/>
              <a:defRPr sz="3780" b="1"/>
            </a:lvl8pPr>
            <a:lvl9pPr marL="8639810"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70" b="1"/>
            </a:lvl1pPr>
            <a:lvl2pPr marL="1080135" indent="0">
              <a:buNone/>
              <a:defRPr sz="4725" b="1"/>
            </a:lvl2pPr>
            <a:lvl3pPr marL="2160270" indent="0">
              <a:buNone/>
              <a:defRPr sz="4250" b="1"/>
            </a:lvl3pPr>
            <a:lvl4pPr marL="3239770" indent="0">
              <a:buNone/>
              <a:defRPr sz="3780" b="1"/>
            </a:lvl4pPr>
            <a:lvl5pPr marL="4319905" indent="0">
              <a:buNone/>
              <a:defRPr sz="3780" b="1"/>
            </a:lvl5pPr>
            <a:lvl6pPr marL="5400040" indent="0">
              <a:buNone/>
              <a:defRPr sz="3780" b="1"/>
            </a:lvl6pPr>
            <a:lvl7pPr marL="6480175" indent="0">
              <a:buNone/>
              <a:defRPr sz="3780" b="1"/>
            </a:lvl7pPr>
            <a:lvl8pPr marL="7559675" indent="0">
              <a:buNone/>
              <a:defRPr sz="3780" b="1"/>
            </a:lvl8pPr>
            <a:lvl9pPr marL="8639810"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60"/>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60"/>
            </a:lvl1pPr>
            <a:lvl2pPr>
              <a:defRPr sz="6615"/>
            </a:lvl2pPr>
            <a:lvl3pPr>
              <a:defRPr sz="5670"/>
            </a:lvl3pPr>
            <a:lvl4pPr>
              <a:defRPr sz="4725"/>
            </a:lvl4pPr>
            <a:lvl5pPr>
              <a:defRPr sz="4725"/>
            </a:lvl5pPr>
            <a:lvl6pPr>
              <a:defRPr sz="4725"/>
            </a:lvl6pPr>
            <a:lvl7pPr>
              <a:defRPr sz="4725"/>
            </a:lvl7pPr>
            <a:lvl8pPr>
              <a:defRPr sz="4725"/>
            </a:lvl8pPr>
            <a:lvl9pPr>
              <a:defRPr sz="472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80135" indent="0">
              <a:buNone/>
              <a:defRPr sz="3305"/>
            </a:lvl2pPr>
            <a:lvl3pPr marL="2160270" indent="0">
              <a:buNone/>
              <a:defRPr sz="2835"/>
            </a:lvl3pPr>
            <a:lvl4pPr marL="3239770" indent="0">
              <a:buNone/>
              <a:defRPr sz="2360"/>
            </a:lvl4pPr>
            <a:lvl5pPr marL="4319905" indent="0">
              <a:buNone/>
              <a:defRPr sz="2360"/>
            </a:lvl5pPr>
            <a:lvl6pPr marL="5400040" indent="0">
              <a:buNone/>
              <a:defRPr sz="2360"/>
            </a:lvl6pPr>
            <a:lvl7pPr marL="6480175" indent="0">
              <a:buNone/>
              <a:defRPr sz="2360"/>
            </a:lvl7pPr>
            <a:lvl8pPr marL="7559675" indent="0">
              <a:buNone/>
              <a:defRPr sz="2360"/>
            </a:lvl8pPr>
            <a:lvl9pPr marL="8639810" indent="0">
              <a:buNone/>
              <a:defRPr sz="2360"/>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6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60"/>
            </a:lvl1pPr>
            <a:lvl2pPr marL="1080135" indent="0">
              <a:buNone/>
              <a:defRPr sz="6615"/>
            </a:lvl2pPr>
            <a:lvl3pPr marL="2160270" indent="0">
              <a:buNone/>
              <a:defRPr sz="5670"/>
            </a:lvl3pPr>
            <a:lvl4pPr marL="3239770" indent="0">
              <a:buNone/>
              <a:defRPr sz="4725"/>
            </a:lvl4pPr>
            <a:lvl5pPr marL="4319905" indent="0">
              <a:buNone/>
              <a:defRPr sz="4725"/>
            </a:lvl5pPr>
            <a:lvl6pPr marL="5400040" indent="0">
              <a:buNone/>
              <a:defRPr sz="4725"/>
            </a:lvl6pPr>
            <a:lvl7pPr marL="6480175" indent="0">
              <a:buNone/>
              <a:defRPr sz="4725"/>
            </a:lvl7pPr>
            <a:lvl8pPr marL="7559675" indent="0">
              <a:buNone/>
              <a:defRPr sz="4725"/>
            </a:lvl8pPr>
            <a:lvl9pPr marL="8639810" indent="0">
              <a:buNone/>
              <a:defRPr sz="4725"/>
            </a:lvl9pPr>
          </a:lstStyle>
          <a:p>
            <a:r>
              <a:rPr lang="en-US" dirty="0"/>
              <a:t>Click icon to add picture</a:t>
            </a:r>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80135" indent="0">
              <a:buNone/>
              <a:defRPr sz="3305"/>
            </a:lvl2pPr>
            <a:lvl3pPr marL="2160270" indent="0">
              <a:buNone/>
              <a:defRPr sz="2835"/>
            </a:lvl3pPr>
            <a:lvl4pPr marL="3239770" indent="0">
              <a:buNone/>
              <a:defRPr sz="2360"/>
            </a:lvl4pPr>
            <a:lvl5pPr marL="4319905" indent="0">
              <a:buNone/>
              <a:defRPr sz="2360"/>
            </a:lvl5pPr>
            <a:lvl6pPr marL="5400040" indent="0">
              <a:buNone/>
              <a:defRPr sz="2360"/>
            </a:lvl6pPr>
            <a:lvl7pPr marL="6480175" indent="0">
              <a:buNone/>
              <a:defRPr sz="2360"/>
            </a:lvl7pPr>
            <a:lvl8pPr marL="7559675" indent="0">
              <a:buNone/>
              <a:defRPr sz="2360"/>
            </a:lvl8pPr>
            <a:lvl9pPr marL="8639810" indent="0">
              <a:buNone/>
              <a:defRPr sz="2360"/>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4F033070-D223-4E7B-BBE1-DD4C7F7A138D}"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pPr/>
              <a:t>15-04-2024</a:t>
            </a:fld>
            <a:endParaRPr lang="en-IN" dirty="0"/>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160270" rtl="0" eaLnBrk="1" latinLnBrk="0" hangingPunct="1">
        <a:lnSpc>
          <a:spcPct val="90000"/>
        </a:lnSpc>
        <a:spcBef>
          <a:spcPct val="0"/>
        </a:spcBef>
        <a:buNone/>
        <a:defRPr sz="10395" kern="1200">
          <a:solidFill>
            <a:schemeClr val="tx1"/>
          </a:solidFill>
          <a:latin typeface="+mj-lt"/>
          <a:ea typeface="+mj-ea"/>
          <a:cs typeface="+mj-cs"/>
        </a:defRPr>
      </a:lvl1pPr>
    </p:titleStyle>
    <p:bodyStyle>
      <a:lvl1pPr marL="539750" indent="-539750" algn="l" defTabSz="2160270" rtl="0" eaLnBrk="1" latinLnBrk="0" hangingPunct="1">
        <a:lnSpc>
          <a:spcPct val="90000"/>
        </a:lnSpc>
        <a:spcBef>
          <a:spcPts val="2360"/>
        </a:spcBef>
        <a:buFont typeface="Arial" panose="020B0604020202020204" pitchFamily="34" charset="0"/>
        <a:buChar char="•"/>
        <a:defRPr sz="6615" kern="1200">
          <a:solidFill>
            <a:schemeClr val="tx1"/>
          </a:solidFill>
          <a:latin typeface="+mn-lt"/>
          <a:ea typeface="+mn-ea"/>
          <a:cs typeface="+mn-cs"/>
        </a:defRPr>
      </a:lvl1pPr>
      <a:lvl2pPr marL="1619885" indent="-539750" algn="l" defTabSz="2160270" rtl="0" eaLnBrk="1" latinLnBrk="0" hangingPunct="1">
        <a:lnSpc>
          <a:spcPct val="90000"/>
        </a:lnSpc>
        <a:spcBef>
          <a:spcPts val="1180"/>
        </a:spcBef>
        <a:buFont typeface="Arial" panose="020B0604020202020204" pitchFamily="34" charset="0"/>
        <a:buChar char="•"/>
        <a:defRPr sz="5670" kern="1200">
          <a:solidFill>
            <a:schemeClr val="tx1"/>
          </a:solidFill>
          <a:latin typeface="+mn-lt"/>
          <a:ea typeface="+mn-ea"/>
          <a:cs typeface="+mn-cs"/>
        </a:defRPr>
      </a:lvl2pPr>
      <a:lvl3pPr marL="2700020" indent="-539750" algn="l" defTabSz="2160270" rtl="0" eaLnBrk="1" latinLnBrk="0" hangingPunct="1">
        <a:lnSpc>
          <a:spcPct val="90000"/>
        </a:lnSpc>
        <a:spcBef>
          <a:spcPts val="1180"/>
        </a:spcBef>
        <a:buFont typeface="Arial" panose="020B0604020202020204" pitchFamily="34" charset="0"/>
        <a:buChar char="•"/>
        <a:defRPr sz="4725" kern="1200">
          <a:solidFill>
            <a:schemeClr val="tx1"/>
          </a:solidFill>
          <a:latin typeface="+mn-lt"/>
          <a:ea typeface="+mn-ea"/>
          <a:cs typeface="+mn-cs"/>
        </a:defRPr>
      </a:lvl3pPr>
      <a:lvl4pPr marL="378015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4pPr>
      <a:lvl5pPr marL="486029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5pPr>
      <a:lvl6pPr marL="593979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6pPr>
      <a:lvl7pPr marL="701992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7pPr>
      <a:lvl8pPr marL="8100060"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8pPr>
      <a:lvl9pPr marL="9180195" indent="-539750" algn="l" defTabSz="2160270" rtl="0" eaLnBrk="1" latinLnBrk="0" hangingPunct="1">
        <a:lnSpc>
          <a:spcPct val="90000"/>
        </a:lnSpc>
        <a:spcBef>
          <a:spcPts val="1180"/>
        </a:spcBef>
        <a:buFont typeface="Arial" panose="020B0604020202020204" pitchFamily="34" charset="0"/>
        <a:buChar char="•"/>
        <a:defRPr sz="4250" kern="1200">
          <a:solidFill>
            <a:schemeClr val="tx1"/>
          </a:solidFill>
          <a:latin typeface="+mn-lt"/>
          <a:ea typeface="+mn-ea"/>
          <a:cs typeface="+mn-cs"/>
        </a:defRPr>
      </a:lvl9pPr>
    </p:bodyStyle>
    <p:otherStyle>
      <a:defPPr>
        <a:defRPr lang="en-US"/>
      </a:defPPr>
      <a:lvl1pPr marL="0" algn="l" defTabSz="2160270" rtl="0" eaLnBrk="1" latinLnBrk="0" hangingPunct="1">
        <a:defRPr sz="4250" kern="1200">
          <a:solidFill>
            <a:schemeClr val="tx1"/>
          </a:solidFill>
          <a:latin typeface="+mn-lt"/>
          <a:ea typeface="+mn-ea"/>
          <a:cs typeface="+mn-cs"/>
        </a:defRPr>
      </a:lvl1pPr>
      <a:lvl2pPr marL="1080135" algn="l" defTabSz="2160270" rtl="0" eaLnBrk="1" latinLnBrk="0" hangingPunct="1">
        <a:defRPr sz="4250" kern="1200">
          <a:solidFill>
            <a:schemeClr val="tx1"/>
          </a:solidFill>
          <a:latin typeface="+mn-lt"/>
          <a:ea typeface="+mn-ea"/>
          <a:cs typeface="+mn-cs"/>
        </a:defRPr>
      </a:lvl2pPr>
      <a:lvl3pPr marL="2160270" algn="l" defTabSz="2160270" rtl="0" eaLnBrk="1" latinLnBrk="0" hangingPunct="1">
        <a:defRPr sz="4250" kern="1200">
          <a:solidFill>
            <a:schemeClr val="tx1"/>
          </a:solidFill>
          <a:latin typeface="+mn-lt"/>
          <a:ea typeface="+mn-ea"/>
          <a:cs typeface="+mn-cs"/>
        </a:defRPr>
      </a:lvl3pPr>
      <a:lvl4pPr marL="3239770" algn="l" defTabSz="2160270" rtl="0" eaLnBrk="1" latinLnBrk="0" hangingPunct="1">
        <a:defRPr sz="4250" kern="1200">
          <a:solidFill>
            <a:schemeClr val="tx1"/>
          </a:solidFill>
          <a:latin typeface="+mn-lt"/>
          <a:ea typeface="+mn-ea"/>
          <a:cs typeface="+mn-cs"/>
        </a:defRPr>
      </a:lvl4pPr>
      <a:lvl5pPr marL="4319905" algn="l" defTabSz="2160270" rtl="0" eaLnBrk="1" latinLnBrk="0" hangingPunct="1">
        <a:defRPr sz="4250" kern="1200">
          <a:solidFill>
            <a:schemeClr val="tx1"/>
          </a:solidFill>
          <a:latin typeface="+mn-lt"/>
          <a:ea typeface="+mn-ea"/>
          <a:cs typeface="+mn-cs"/>
        </a:defRPr>
      </a:lvl5pPr>
      <a:lvl6pPr marL="5400040" algn="l" defTabSz="2160270" rtl="0" eaLnBrk="1" latinLnBrk="0" hangingPunct="1">
        <a:defRPr sz="4250" kern="1200">
          <a:solidFill>
            <a:schemeClr val="tx1"/>
          </a:solidFill>
          <a:latin typeface="+mn-lt"/>
          <a:ea typeface="+mn-ea"/>
          <a:cs typeface="+mn-cs"/>
        </a:defRPr>
      </a:lvl6pPr>
      <a:lvl7pPr marL="6480175" algn="l" defTabSz="2160270" rtl="0" eaLnBrk="1" latinLnBrk="0" hangingPunct="1">
        <a:defRPr sz="4250" kern="1200">
          <a:solidFill>
            <a:schemeClr val="tx1"/>
          </a:solidFill>
          <a:latin typeface="+mn-lt"/>
          <a:ea typeface="+mn-ea"/>
          <a:cs typeface="+mn-cs"/>
        </a:defRPr>
      </a:lvl7pPr>
      <a:lvl8pPr marL="7559675" algn="l" defTabSz="2160270" rtl="0" eaLnBrk="1" latinLnBrk="0" hangingPunct="1">
        <a:defRPr sz="4250" kern="1200">
          <a:solidFill>
            <a:schemeClr val="tx1"/>
          </a:solidFill>
          <a:latin typeface="+mn-lt"/>
          <a:ea typeface="+mn-ea"/>
          <a:cs typeface="+mn-cs"/>
        </a:defRPr>
      </a:lvl8pPr>
      <a:lvl9pPr marL="8639810" algn="l" defTabSz="2160270" rtl="0" eaLnBrk="1" latinLnBrk="0" hangingPunct="1">
        <a:defRPr sz="4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978186"/>
            <a:ext cx="21599525"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6" name="Rectangle 5"/>
          <p:cNvSpPr/>
          <p:nvPr/>
        </p:nvSpPr>
        <p:spPr>
          <a:xfrm>
            <a:off x="-1" y="15728297"/>
            <a:ext cx="21599525"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altLang="en-US" sz="2000" dirty="0"/>
          </a:p>
        </p:txBody>
      </p:sp>
      <p:sp>
        <p:nvSpPr>
          <p:cNvPr id="7" name="Rectangle 6"/>
          <p:cNvSpPr/>
          <p:nvPr/>
        </p:nvSpPr>
        <p:spPr>
          <a:xfrm>
            <a:off x="1" y="21976080"/>
            <a:ext cx="21599524" cy="5394960"/>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8" name="Rectangle 7"/>
          <p:cNvSpPr/>
          <p:nvPr/>
        </p:nvSpPr>
        <p:spPr>
          <a:xfrm>
            <a:off x="-8251" y="27346472"/>
            <a:ext cx="21607776" cy="5569745"/>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sp>
        <p:nvSpPr>
          <p:cNvPr id="15" name="TextBox 14"/>
          <p:cNvSpPr txBox="1"/>
          <p:nvPr/>
        </p:nvSpPr>
        <p:spPr>
          <a:xfrm>
            <a:off x="348719" y="2554293"/>
            <a:ext cx="20898834" cy="1296124"/>
          </a:xfrm>
          <a:prstGeom prst="rect">
            <a:avLst/>
          </a:prstGeom>
          <a:noFill/>
        </p:spPr>
        <p:txBody>
          <a:bodyPr wrap="square" rtlCol="0">
            <a:spAutoFit/>
          </a:bodyPr>
          <a:lstStyle/>
          <a:p>
            <a:pPr algn="ctr">
              <a:lnSpc>
                <a:spcPct val="106000"/>
              </a:lnSpc>
              <a:spcAft>
                <a:spcPts val="800"/>
              </a:spcAft>
            </a:pPr>
            <a:r>
              <a:rPr lang="en-US" sz="3690" b="1" dirty="0">
                <a:latin typeface="Times New Roman" pitchFamily="18" charset="0"/>
                <a:cs typeface="Times New Roman" pitchFamily="18" charset="0"/>
              </a:rPr>
              <a:t>Comparison Analysis of Development Time on Medication Reminder App for </a:t>
            </a:r>
            <a:r>
              <a:rPr lang="en-US" sz="3690" b="1" dirty="0" smtClean="0">
                <a:latin typeface="Times New Roman" pitchFamily="18" charset="0"/>
                <a:cs typeface="Times New Roman" pitchFamily="18" charset="0"/>
              </a:rPr>
              <a:t>A </a:t>
            </a:r>
            <a:r>
              <a:rPr lang="en-US" sz="3690" b="1" dirty="0">
                <a:latin typeface="Times New Roman" pitchFamily="18" charset="0"/>
                <a:cs typeface="Times New Roman" pitchFamily="18" charset="0"/>
              </a:rPr>
              <a:t>C</a:t>
            </a:r>
            <a:r>
              <a:rPr lang="en-US" sz="3690" b="1" dirty="0" smtClean="0">
                <a:latin typeface="Times New Roman" pitchFamily="18" charset="0"/>
                <a:cs typeface="Times New Roman" pitchFamily="18" charset="0"/>
              </a:rPr>
              <a:t>omparative </a:t>
            </a:r>
            <a:r>
              <a:rPr lang="en-US" sz="3690" b="1" dirty="0">
                <a:latin typeface="Times New Roman" pitchFamily="18" charset="0"/>
                <a:cs typeface="Times New Roman" pitchFamily="18" charset="0"/>
              </a:rPr>
              <a:t>S</a:t>
            </a:r>
            <a:r>
              <a:rPr lang="en-US" sz="3690" b="1" dirty="0" smtClean="0">
                <a:latin typeface="Times New Roman" pitchFamily="18" charset="0"/>
                <a:cs typeface="Times New Roman" pitchFamily="18" charset="0"/>
              </a:rPr>
              <a:t>tudy </a:t>
            </a:r>
            <a:r>
              <a:rPr lang="en-US" sz="3690" b="1" dirty="0">
                <a:latin typeface="Times New Roman" pitchFamily="18" charset="0"/>
                <a:cs typeface="Times New Roman" pitchFamily="18" charset="0"/>
              </a:rPr>
              <a:t>Between Android Application and iOS Application</a:t>
            </a:r>
            <a:endParaRPr lang="en-IN" sz="3690" b="1" dirty="0">
              <a:effectLst/>
              <a:latin typeface="Times New Roman" pitchFamily="18" charset="0"/>
              <a:ea typeface="Calibri" panose="020F0502020204030204" pitchFamily="34" charset="0"/>
              <a:cs typeface="Times New Roman"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90" b="1" dirty="0">
                <a:solidFill>
                  <a:schemeClr val="bg1"/>
                </a:solidFill>
                <a:latin typeface="Times New Roman" panose="02020603050405020304" pitchFamily="18" charset="0"/>
                <a:cs typeface="Times New Roman" panose="02020603050405020304" pitchFamily="18" charset="0"/>
              </a:rPr>
              <a:t> Ms. Poorani.S            </a:t>
            </a:r>
          </a:p>
          <a:p>
            <a:pPr algn="r"/>
            <a:r>
              <a:rPr lang="en-US" sz="2490" b="1" dirty="0">
                <a:solidFill>
                  <a:schemeClr val="bg1"/>
                </a:solidFill>
                <a:latin typeface="Times New Roman" panose="02020603050405020304" pitchFamily="18" charset="0"/>
                <a:cs typeface="Times New Roman" panose="02020603050405020304" pitchFamily="18" charset="0"/>
              </a:rPr>
              <a:t> Guided by Dr. Mary Valantina. G</a:t>
            </a:r>
            <a:endParaRPr lang="en-IN" sz="2490"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0" y="4785360"/>
            <a:ext cx="15788640" cy="5242560"/>
          </a:xfrm>
          <a:prstGeom prst="rect">
            <a:avLst/>
          </a:prstGeom>
          <a:noFill/>
        </p:spPr>
        <p:txBody>
          <a:bodyPr wrap="square" rtlCol="0">
            <a:noAutofit/>
          </a:bodyPr>
          <a:lstStyle/>
          <a:p>
            <a:pPr marL="798195" lvl="1" indent="-340995" algn="just">
              <a:buFont typeface="Wingdings" pitchFamily="2" charset="2"/>
              <a:buChar char="Ø"/>
            </a:pPr>
            <a:r>
              <a:rPr lang="en-US" sz="2190" b="1" dirty="0" smtClean="0">
                <a:latin typeface="Times New Roman" pitchFamily="18" charset="0"/>
                <a:cs typeface="Times New Roman" pitchFamily="18" charset="0"/>
              </a:rPr>
              <a:t>The </a:t>
            </a:r>
            <a:r>
              <a:rPr lang="en-US" sz="2190" b="1" dirty="0">
                <a:latin typeface="Times New Roman" pitchFamily="18" charset="0"/>
                <a:cs typeface="Times New Roman" pitchFamily="18" charset="0"/>
              </a:rPr>
              <a:t>application helps patients and doctors communicate by providing a way for the patient to examine all medication and attendee details from the doctor's login in the Medication-Reminder application. </a:t>
            </a:r>
          </a:p>
          <a:p>
            <a:pPr marL="798195" lvl="1" indent="-340995" algn="just">
              <a:buFont typeface="Wingdings" pitchFamily="2" charset="2"/>
              <a:buChar char="Ø"/>
            </a:pPr>
            <a:endParaRPr lang="en-US" sz="2190" b="1" i="0" u="none" strike="noStrike" dirty="0">
              <a:solidFill>
                <a:srgbClr val="000000"/>
              </a:solidFill>
              <a:effectLst/>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itchFamily="18" charset="0"/>
                <a:cs typeface="Times New Roman" pitchFamily="18" charset="0"/>
              </a:rPr>
              <a:t>The goal of this project is to pinpoint areas in which iOS and Android perform differently in terms of development time, as well as areas that could use improvement.</a:t>
            </a:r>
          </a:p>
          <a:p>
            <a:pPr marL="798195" lvl="1" indent="-340995" algn="just">
              <a:buFont typeface="Wingdings" pitchFamily="2" charset="2"/>
              <a:buChar char="Ø"/>
            </a:pPr>
            <a:endParaRPr lang="en-IN" sz="2190" b="1" dirty="0">
              <a:latin typeface="Times New Roman" pitchFamily="18" charset="0"/>
              <a:cs typeface="Times New Roman" pitchFamily="18" charset="0"/>
            </a:endParaRPr>
          </a:p>
          <a:p>
            <a:pPr marL="798195" lvl="1" indent="-340995" algn="just">
              <a:buFont typeface="Wingdings" pitchFamily="2" charset="2"/>
              <a:buChar char="Ø"/>
            </a:pPr>
            <a:r>
              <a:rPr lang="en-US" sz="2190" b="1" dirty="0">
                <a:latin typeface="Times New Roman" pitchFamily="18" charset="0"/>
                <a:cs typeface="Times New Roman" pitchFamily="18" charset="0"/>
              </a:rPr>
              <a:t>Discover Medication-Reminder and transform the way you treat medication rehabilitation. Developers and users can assess how effectively contents are distributed on various platforms in their trip to touch patients by measuring the development time.</a:t>
            </a:r>
          </a:p>
          <a:p>
            <a:pPr marL="798195" lvl="1" indent="-340995" algn="just">
              <a:buFont typeface="Wingdings" pitchFamily="2" charset="2"/>
              <a:buChar char="Ø"/>
            </a:pPr>
            <a:endParaRPr lang="en-US" altLang="en-IN" sz="2190" b="1" dirty="0">
              <a:latin typeface="Times New Roman" pitchFamily="18" charset="0"/>
              <a:cs typeface="Times New Roman" pitchFamily="18" charset="0"/>
            </a:endParaRPr>
          </a:p>
          <a:p>
            <a:pPr marL="798195" lvl="1" indent="-340995" algn="just">
              <a:buFont typeface="Wingdings" pitchFamily="2" charset="2"/>
              <a:buChar char="Ø"/>
            </a:pPr>
            <a:r>
              <a:rPr lang="en-US" sz="2190" b="1" dirty="0">
                <a:latin typeface="Times New Roman" pitchFamily="18" charset="0"/>
                <a:cs typeface="Times New Roman" pitchFamily="18" charset="0"/>
              </a:rPr>
              <a:t>The project's ultimate goal is to enhance user experience and instructional efficacy across iOS and Android platforms by minimizing development time discrepancies.</a:t>
            </a:r>
          </a:p>
          <a:p>
            <a:pPr marL="798195" lvl="1" indent="-340995" algn="just">
              <a:buFont typeface="Wingdings" pitchFamily="2" charset="2"/>
              <a:buChar char="Ø"/>
            </a:pPr>
            <a:endParaRPr lang="en-US" sz="2190" b="1" i="0" u="none" strike="noStrike" dirty="0">
              <a:solidFill>
                <a:srgbClr val="000000"/>
              </a:solidFill>
              <a:effectLst/>
              <a:latin typeface="Times New Roman" pitchFamily="18" charset="0"/>
              <a:cs typeface="Times New Roman" pitchFamily="18" charset="0"/>
            </a:endParaRPr>
          </a:p>
          <a:p>
            <a:pPr marL="798195" lvl="1" indent="-340995" algn="just">
              <a:buFont typeface="Wingdings" pitchFamily="2" charset="2"/>
              <a:buChar char="Ø"/>
            </a:pPr>
            <a:r>
              <a:rPr lang="en-US" sz="2190" b="1" i="0" u="none" strike="noStrike" dirty="0">
                <a:solidFill>
                  <a:srgbClr val="000000"/>
                </a:solidFill>
                <a:effectLst/>
                <a:latin typeface="Times New Roman" pitchFamily="18" charset="0"/>
                <a:cs typeface="Times New Roman" pitchFamily="18" charset="0"/>
              </a:rPr>
              <a:t>Improving scalability and maintainability not only enhances the efficiency of the development process but also ensures that the Medication-reminder application remains adaptable to evolving user needs and technological advancements.</a:t>
            </a:r>
          </a:p>
        </p:txBody>
      </p:sp>
      <p:sp>
        <p:nvSpPr>
          <p:cNvPr id="36" name="TextBox 35"/>
          <p:cNvSpPr txBox="1"/>
          <p:nvPr/>
        </p:nvSpPr>
        <p:spPr>
          <a:xfrm>
            <a:off x="1384372" y="10973564"/>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0" y="22851852"/>
            <a:ext cx="21599525" cy="4136517"/>
          </a:xfrm>
          <a:prstGeom prst="rect">
            <a:avLst/>
          </a:prstGeom>
          <a:noFill/>
        </p:spPr>
        <p:txBody>
          <a:bodyPr wrap="square" rtlCol="0">
            <a:spAutoFit/>
          </a:bodyPr>
          <a:lstStyle/>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Based on  T-test Statistical analysis, the significance value of  p=0.002 (independent sample T - test p&lt;0.05) is obtained and shows that there is a statistical significant difference between the group 1 and group 2.</a:t>
            </a:r>
          </a:p>
          <a:p>
            <a:pPr lvl="1"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Overall, the Response time of the</a:t>
            </a:r>
            <a:r>
              <a:rPr lang="en-IN" altLang="en-US" sz="2190" b="1" dirty="0">
                <a:latin typeface="Times New Roman" panose="02020603050405020304" pitchFamily="18" charset="0"/>
                <a:cs typeface="Times New Roman" panose="02020603050405020304" pitchFamily="18" charset="0"/>
              </a:rPr>
              <a:t> </a:t>
            </a:r>
            <a:r>
              <a:rPr lang="en-IN" altLang="en-US" sz="2190" b="1" dirty="0">
                <a:latin typeface="Times New Roman" panose="02020603050405020304" pitchFamily="18" charset="0"/>
                <a:cs typeface="Times New Roman" panose="02020603050405020304" pitchFamily="18" charset="0"/>
                <a:sym typeface="+mn-ea"/>
              </a:rPr>
              <a:t>Medication-Reminder iOS </a:t>
            </a:r>
            <a:r>
              <a:rPr lang="en-US" altLang="en-IN" sz="2190" b="1" dirty="0">
                <a:latin typeface="Times New Roman" panose="02020603050405020304" pitchFamily="18" charset="0"/>
                <a:cs typeface="Times New Roman" panose="02020603050405020304" pitchFamily="18" charset="0"/>
                <a:sym typeface="+mn-ea"/>
              </a:rPr>
              <a:t>Application</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a:latin typeface="Times New Roman" panose="02020603050405020304" pitchFamily="18" charset="0"/>
                <a:cs typeface="Times New Roman" panose="02020603050405020304" pitchFamily="18" charset="0"/>
                <a:sym typeface="+mn-ea"/>
              </a:rPr>
              <a:t>is </a:t>
            </a:r>
            <a:r>
              <a:rPr lang="en-IN" altLang="en-US" sz="2190" b="1" dirty="0">
                <a:latin typeface="Times New Roman" panose="02020603050405020304" pitchFamily="18" charset="0"/>
                <a:cs typeface="Times New Roman" panose="02020603050405020304" pitchFamily="18" charset="0"/>
                <a:sym typeface="+mn-ea"/>
              </a:rPr>
              <a:t>26.30ms</a:t>
            </a:r>
            <a:r>
              <a:rPr lang="en-US" altLang="en-IN" sz="2190" b="1" dirty="0">
                <a:latin typeface="Times New Roman" panose="02020603050405020304" pitchFamily="18" charset="0"/>
                <a:cs typeface="Times New Roman" panose="02020603050405020304" pitchFamily="18" charset="0"/>
              </a:rPr>
              <a:t> and it is better than the</a:t>
            </a:r>
            <a:r>
              <a:rPr lang="en-IN" altLang="en-US" sz="2190" b="1" dirty="0">
                <a:latin typeface="Times New Roman" panose="02020603050405020304" pitchFamily="18" charset="0"/>
                <a:cs typeface="Times New Roman" panose="02020603050405020304" pitchFamily="18" charset="0"/>
              </a:rPr>
              <a:t> </a:t>
            </a:r>
            <a:r>
              <a:rPr lang="en-US" sz="2190" b="1" dirty="0">
                <a:latin typeface="Times New Roman" panose="02020603050405020304" pitchFamily="18" charset="0"/>
                <a:cs typeface="Times New Roman" panose="02020603050405020304" pitchFamily="18" charset="0"/>
                <a:sym typeface="+mn-ea"/>
              </a:rPr>
              <a:t>Android</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a:latin typeface="Times New Roman" panose="02020603050405020304" pitchFamily="18" charset="0"/>
                <a:cs typeface="Times New Roman" panose="02020603050405020304" pitchFamily="18" charset="0"/>
                <a:sym typeface="+mn-ea"/>
              </a:rPr>
              <a:t>Application</a:t>
            </a:r>
            <a:r>
              <a:rPr lang="en-US" altLang="en-IN" sz="2190" b="1" dirty="0">
                <a:latin typeface="Times New Roman" panose="02020603050405020304" pitchFamily="18" charset="0"/>
                <a:cs typeface="Times New Roman" panose="02020603050405020304" pitchFamily="18" charset="0"/>
              </a:rPr>
              <a:t>.</a:t>
            </a:r>
          </a:p>
          <a:p>
            <a:pPr lvl="1"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latin typeface="Times New Roman" panose="02020603050405020304" pitchFamily="18" charset="0"/>
                <a:cs typeface="Times New Roman" panose="02020603050405020304" pitchFamily="18" charset="0"/>
                <a:sym typeface="+mn-ea"/>
              </a:rPr>
              <a:t>Medication-Reminder Android</a:t>
            </a:r>
            <a:r>
              <a:rPr lang="en-IN" altLang="en-US" sz="2190" b="1" dirty="0">
                <a:latin typeface="Times New Roman" panose="02020603050405020304" pitchFamily="18" charset="0"/>
                <a:cs typeface="Times New Roman" panose="02020603050405020304" pitchFamily="18" charset="0"/>
                <a:sym typeface="+mn-ea"/>
              </a:rPr>
              <a:t> </a:t>
            </a:r>
            <a:r>
              <a:rPr lang="en-US" altLang="en-IN" sz="2190" b="1" dirty="0">
                <a:latin typeface="Times New Roman" panose="02020603050405020304" pitchFamily="18" charset="0"/>
                <a:cs typeface="Times New Roman" panose="02020603050405020304" pitchFamily="18" charset="0"/>
                <a:sym typeface="+mn-ea"/>
              </a:rPr>
              <a:t>Application is </a:t>
            </a:r>
            <a:r>
              <a:rPr lang="en-IN" altLang="en-US" sz="2190" b="1" dirty="0">
                <a:latin typeface="Times New Roman" panose="02020603050405020304" pitchFamily="18" charset="0"/>
                <a:cs typeface="Times New Roman" panose="02020603050405020304" pitchFamily="18" charset="0"/>
                <a:sym typeface="+mn-ea"/>
              </a:rPr>
              <a:t> 33.23</a:t>
            </a:r>
            <a:r>
              <a:rPr lang="en-US" altLang="en-IN" sz="2190" b="1" dirty="0">
                <a:latin typeface="Times New Roman" panose="02020603050405020304" pitchFamily="18" charset="0"/>
                <a:cs typeface="Times New Roman" panose="02020603050405020304" pitchFamily="18" charset="0"/>
                <a:sym typeface="+mn-ea"/>
              </a:rPr>
              <a:t>ms</a:t>
            </a:r>
            <a:endParaRPr lang="en-IN" altLang="en-US"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The research results clearly show that, when it comes to the </a:t>
            </a:r>
            <a:r>
              <a:rPr lang="en-IN" altLang="en-US" sz="2190" b="1" dirty="0">
                <a:latin typeface="Times New Roman" panose="02020603050405020304" pitchFamily="18" charset="0"/>
                <a:cs typeface="Times New Roman" panose="02020603050405020304" pitchFamily="18" charset="0"/>
                <a:sym typeface="+mn-ea"/>
              </a:rPr>
              <a:t>Medication-Reminder </a:t>
            </a:r>
            <a:r>
              <a:rPr lang="en-US" altLang="en-IN" sz="2190" b="1" dirty="0">
                <a:latin typeface="Times New Roman" panose="02020603050405020304" pitchFamily="18" charset="0"/>
                <a:cs typeface="Times New Roman" panose="02020603050405020304" pitchFamily="18" charset="0"/>
              </a:rPr>
              <a:t>development time efficiency, the iOS application performs better than the Android application.</a:t>
            </a:r>
          </a:p>
          <a:p>
            <a:pPr marL="798195" lvl="1" indent="-340995" algn="just">
              <a:buFont typeface="Wingdings" pitchFamily="2" charset="2"/>
              <a:buChar char="Ø"/>
            </a:pPr>
            <a:endParaRPr lang="en-US" alt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altLang="en-IN" sz="2190" b="1" dirty="0">
                <a:latin typeface="Times New Roman" panose="02020603050405020304" pitchFamily="18" charset="0"/>
                <a:cs typeface="Times New Roman" panose="02020603050405020304" pitchFamily="18" charset="0"/>
              </a:rPr>
              <a:t>The more efficient development time of the iOS application may allow for quicker implementation of new features, updates and bug fixes. This agility in development can contribute to a more dynamic and responsive user experience on the iOS platforms, further reinforcing user satisfaction and loyalty.</a:t>
            </a:r>
          </a:p>
        </p:txBody>
      </p:sp>
      <p:sp>
        <p:nvSpPr>
          <p:cNvPr id="39" name="TextBox 38"/>
          <p:cNvSpPr txBox="1"/>
          <p:nvPr/>
        </p:nvSpPr>
        <p:spPr>
          <a:xfrm>
            <a:off x="0" y="28659066"/>
            <a:ext cx="21599525" cy="3799502"/>
          </a:xfrm>
          <a:prstGeom prst="rect">
            <a:avLst/>
          </a:prstGeom>
          <a:noFill/>
        </p:spPr>
        <p:txBody>
          <a:bodyPr wrap="square" rtlCol="0">
            <a:spAutoFit/>
          </a:bodyPr>
          <a:lstStyle/>
          <a:p>
            <a:pPr marL="798195" lvl="1" indent="-340995" algn="just">
              <a:buFont typeface="Wingdings" pitchFamily="2" charset="2"/>
              <a:buChar char="Ø"/>
            </a:pPr>
            <a:r>
              <a:rPr lang="en-IN" sz="2190" b="1" dirty="0">
                <a:latin typeface="Times New Roman" panose="02020603050405020304" pitchFamily="18" charset="0"/>
                <a:cs typeface="Times New Roman" panose="02020603050405020304" pitchFamily="18" charset="0"/>
              </a:rPr>
              <a:t>Kim, Ben Y. B., Anis Sharafoddini, Nam Tran, Emily Y. Wen, and Joon Lee. 2018. “Consumer Mobile Apps for Potential Drug-Drug Interaction Check: Systematic Review and Content Analysis Using the Mobile App Rating Scale (MARS).” JMIR mHealth and uHealth 6 (3): e8613.</a:t>
            </a:r>
          </a:p>
          <a:p>
            <a:pPr lvl="1" algn="just">
              <a:buFont typeface="Wingdings" pitchFamily="2" charset="2"/>
              <a:buChar char="Ø"/>
            </a:pPr>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solidFill>
                  <a:srgbClr val="222222"/>
                </a:solidFill>
                <a:latin typeface="Times New Roman" panose="02020603050405020304" pitchFamily="18" charset="0"/>
                <a:cs typeface="Times New Roman" panose="02020603050405020304" pitchFamily="18" charset="0"/>
              </a:rPr>
              <a:t>Santo, Karla, Sarah S. Richtering, John Chalmers, Aravinda Thiagalingam, Clara K. Chow, and Julie Redfern. 2016. “Mobile Phone Apps to Improve Medication Adherence: A Systematic Stepwise Process to Identify High-Quality Apps.” JMIR mHealth and uHealth 4 (4): e6742.</a:t>
            </a:r>
          </a:p>
          <a:p>
            <a:pPr marL="798195" lvl="1" indent="-340995" algn="just">
              <a:buFont typeface="Wingdings" pitchFamily="2" charset="2"/>
              <a:buChar char="Ø"/>
            </a:pPr>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US" sz="2190" b="1" dirty="0">
                <a:solidFill>
                  <a:srgbClr val="222222"/>
                </a:solidFill>
                <a:latin typeface="Times New Roman" panose="02020603050405020304" pitchFamily="18" charset="0"/>
                <a:cs typeface="Times New Roman" panose="02020603050405020304" pitchFamily="18" charset="0"/>
              </a:rPr>
              <a:t>Bartlett Ellis, Rebecca J., James H. Hill, K. Denise Kerley, Arjun Sinha, Aaron Ganci, and Cynthia L. Russell. 2019. “The Feasibility of a Using a Smart Button Mobile Health System to Self-Track Medication Adherence and Deliver Tailored Short Message Service Text Message Feedback.” JMIR Formative Research 3 (2): e13558.</a:t>
            </a:r>
          </a:p>
          <a:p>
            <a:pPr marL="798195" lvl="1" indent="-340995" algn="just">
              <a:buFont typeface="Wingdings" pitchFamily="2" charset="2"/>
              <a:buChar char="Ø"/>
            </a:pPr>
            <a:endParaRPr lang="en-IN" sz="2190" b="1" dirty="0">
              <a:latin typeface="Times New Roman" panose="02020603050405020304" pitchFamily="18" charset="0"/>
              <a:cs typeface="Times New Roman" panose="02020603050405020304" pitchFamily="18" charset="0"/>
            </a:endParaRPr>
          </a:p>
          <a:p>
            <a:pPr marL="798195" lvl="1" indent="-340995" algn="just">
              <a:buFont typeface="Wingdings" pitchFamily="2" charset="2"/>
              <a:buChar char="Ø"/>
            </a:pPr>
            <a:r>
              <a:rPr lang="en-IN" sz="2190" b="1" dirty="0">
                <a:solidFill>
                  <a:srgbClr val="222222"/>
                </a:solidFill>
                <a:latin typeface="Times New Roman" panose="02020603050405020304" pitchFamily="18" charset="0"/>
                <a:cs typeface="Times New Roman" panose="02020603050405020304" pitchFamily="18" charset="0"/>
              </a:rPr>
              <a:t>Park, Jamie Yea Eun, Jenny Li, Alyssa Howren, Nicole Wen Tsao, and Mary De Vera. 2019. “Mobile Phone Apps Targeting Medication Adherence: Quality Assessment and Content Analysis of User Reviews.” JMIR mHealth and uHealth 7 (1): e11919.</a:t>
            </a:r>
            <a:endParaRPr lang="en-IN" sz="2190" b="1" dirty="0">
              <a:latin typeface="Times New Roman" panose="02020603050405020304" pitchFamily="18" charset="0"/>
              <a:cs typeface="Times New Roman" panose="02020603050405020304" pitchFamily="18" charset="0"/>
            </a:endParaRPr>
          </a:p>
        </p:txBody>
      </p:sp>
      <p:sp>
        <p:nvSpPr>
          <p:cNvPr id="30" name="Text Box 29"/>
          <p:cNvSpPr txBox="1"/>
          <p:nvPr/>
        </p:nvSpPr>
        <p:spPr>
          <a:xfrm>
            <a:off x="5921132" y="24475579"/>
            <a:ext cx="15955024" cy="366524"/>
          </a:xfrm>
          <a:prstGeom prst="rect">
            <a:avLst/>
          </a:prstGeom>
          <a:noFill/>
        </p:spPr>
        <p:txBody>
          <a:bodyPr wrap="square" rtlCol="0">
            <a:spAutoFit/>
          </a:bodyPr>
          <a:lstStyle/>
          <a:p>
            <a:endParaRPr lang="en-US" sz="1790" dirty="0"/>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pic>
        <p:nvPicPr>
          <p:cNvPr id="13" name="Picture 12"/>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90" b="1" dirty="0">
                <a:solidFill>
                  <a:schemeClr val="bg1"/>
                </a:solidFill>
                <a:latin typeface="Times New Roman" panose="02020603050405020304" pitchFamily="18" charset="0"/>
                <a:cs typeface="Times New Roman" panose="02020603050405020304" pitchFamily="18" charset="0"/>
              </a:rPr>
              <a:t>Name: Ms Nisha N</a:t>
            </a:r>
            <a:br>
              <a:rPr lang="en-US" sz="2190" b="1" dirty="0">
                <a:solidFill>
                  <a:schemeClr val="bg1"/>
                </a:solidFill>
                <a:latin typeface="Times New Roman" panose="02020603050405020304" pitchFamily="18" charset="0"/>
                <a:cs typeface="Times New Roman" panose="02020603050405020304" pitchFamily="18" charset="0"/>
              </a:rPr>
            </a:br>
            <a:r>
              <a:rPr lang="en-US" sz="2190" b="1" dirty="0">
                <a:solidFill>
                  <a:schemeClr val="bg1"/>
                </a:solidFill>
                <a:latin typeface="Times New Roman" panose="02020603050405020304" pitchFamily="18" charset="0"/>
                <a:cs typeface="Times New Roman" panose="02020603050405020304" pitchFamily="18" charset="0"/>
              </a:rPr>
              <a:t>Register Number: 192011495L</a:t>
            </a:r>
          </a:p>
          <a:p>
            <a:pPr algn="r"/>
            <a:r>
              <a:rPr lang="en-US" sz="2190" b="1" dirty="0">
                <a:solidFill>
                  <a:schemeClr val="bg1"/>
                </a:solidFill>
                <a:latin typeface="Times New Roman" panose="02020603050405020304" pitchFamily="18" charset="0"/>
                <a:cs typeface="Times New Roman" panose="02020603050405020304" pitchFamily="18" charset="0"/>
              </a:rPr>
              <a:t>Guided by Dr T Suresh Balakrishnan</a:t>
            </a:r>
          </a:p>
        </p:txBody>
      </p:sp>
      <p:sp>
        <p:nvSpPr>
          <p:cNvPr id="1037" name="TextBox 1036">
            <a:extLst>
              <a:ext uri="{FF2B5EF4-FFF2-40B4-BE49-F238E27FC236}">
                <a16:creationId xmlns:a16="http://schemas.microsoft.com/office/drawing/2014/main" xmlns="" id="{10374C3E-DD85-FC16-9734-C39305E6E237}"/>
              </a:ext>
            </a:extLst>
          </p:cNvPr>
          <p:cNvSpPr txBox="1"/>
          <p:nvPr/>
        </p:nvSpPr>
        <p:spPr>
          <a:xfrm>
            <a:off x="13739149" y="21272778"/>
            <a:ext cx="2048719" cy="369332"/>
          </a:xfrm>
          <a:prstGeom prst="rect">
            <a:avLst/>
          </a:prstGeom>
          <a:noFill/>
        </p:spPr>
        <p:txBody>
          <a:bodyPr wrap="square" rtlCol="0">
            <a:spAutoFit/>
          </a:bodyPr>
          <a:lstStyle/>
          <a:p>
            <a:r>
              <a:rPr lang="en-IN" b="1" dirty="0">
                <a:latin typeface="Times New Roman" pitchFamily="18" charset="0"/>
                <a:cs typeface="Times New Roman" pitchFamily="18" charset="0"/>
              </a:rPr>
              <a:t>Fig 3:Add patient</a:t>
            </a:r>
          </a:p>
        </p:txBody>
      </p:sp>
      <p:sp>
        <p:nvSpPr>
          <p:cNvPr id="1045" name="TextBox 1044">
            <a:extLst>
              <a:ext uri="{FF2B5EF4-FFF2-40B4-BE49-F238E27FC236}">
                <a16:creationId xmlns:a16="http://schemas.microsoft.com/office/drawing/2014/main" xmlns="" id="{23AFED97-9AB8-64F2-31DC-77ECA5114D4F}"/>
              </a:ext>
            </a:extLst>
          </p:cNvPr>
          <p:cNvSpPr txBox="1"/>
          <p:nvPr/>
        </p:nvSpPr>
        <p:spPr>
          <a:xfrm>
            <a:off x="16505500" y="21260993"/>
            <a:ext cx="2013994" cy="369332"/>
          </a:xfrm>
          <a:prstGeom prst="rect">
            <a:avLst/>
          </a:prstGeom>
          <a:noFill/>
        </p:spPr>
        <p:txBody>
          <a:bodyPr wrap="square" rtlCol="0">
            <a:spAutoFit/>
          </a:bodyPr>
          <a:lstStyle/>
          <a:p>
            <a:r>
              <a:rPr lang="en-IN" b="1" dirty="0">
                <a:latin typeface="Times New Roman" pitchFamily="18" charset="0"/>
                <a:cs typeface="Times New Roman" pitchFamily="18" charset="0"/>
              </a:rPr>
              <a:t>Fig 4:Patient List</a:t>
            </a:r>
          </a:p>
        </p:txBody>
      </p:sp>
      <p:sp>
        <p:nvSpPr>
          <p:cNvPr id="1051" name="TextBox 1050">
            <a:extLst>
              <a:ext uri="{FF2B5EF4-FFF2-40B4-BE49-F238E27FC236}">
                <a16:creationId xmlns:a16="http://schemas.microsoft.com/office/drawing/2014/main" xmlns="" id="{F1B309D7-7F0A-2C41-331A-750C2CD4135D}"/>
              </a:ext>
            </a:extLst>
          </p:cNvPr>
          <p:cNvSpPr txBox="1"/>
          <p:nvPr/>
        </p:nvSpPr>
        <p:spPr>
          <a:xfrm>
            <a:off x="19202401" y="21236473"/>
            <a:ext cx="2199190" cy="369332"/>
          </a:xfrm>
          <a:prstGeom prst="rect">
            <a:avLst/>
          </a:prstGeom>
          <a:noFill/>
        </p:spPr>
        <p:txBody>
          <a:bodyPr wrap="square" rtlCol="0">
            <a:spAutoFit/>
          </a:bodyPr>
          <a:lstStyle/>
          <a:p>
            <a:r>
              <a:rPr lang="en-IN" b="1" dirty="0">
                <a:latin typeface="Times New Roman" pitchFamily="18" charset="0"/>
                <a:cs typeface="Times New Roman" pitchFamily="18" charset="0"/>
              </a:rPr>
              <a:t>Fig 5:Patient Details</a:t>
            </a:r>
          </a:p>
        </p:txBody>
      </p:sp>
      <p:sp>
        <p:nvSpPr>
          <p:cNvPr id="21" name="TextBox 20">
            <a:extLst>
              <a:ext uri="{FF2B5EF4-FFF2-40B4-BE49-F238E27FC236}">
                <a16:creationId xmlns:a16="http://schemas.microsoft.com/office/drawing/2014/main" xmlns="" id="{26E3E3AC-B852-565C-2388-105C7A3521E3}"/>
              </a:ext>
            </a:extLst>
          </p:cNvPr>
          <p:cNvSpPr txBox="1"/>
          <p:nvPr/>
        </p:nvSpPr>
        <p:spPr>
          <a:xfrm>
            <a:off x="17320625" y="9208889"/>
            <a:ext cx="3259161" cy="400110"/>
          </a:xfrm>
          <a:prstGeom prst="rect">
            <a:avLst/>
          </a:prstGeom>
          <a:noFill/>
        </p:spPr>
        <p:txBody>
          <a:bodyPr wrap="square" rtlCol="0">
            <a:spAutoFit/>
          </a:bodyPr>
          <a:lstStyle/>
          <a:p>
            <a:r>
              <a:rPr lang="en-IN" sz="2000" b="1" dirty="0">
                <a:latin typeface="Times New Roman" pitchFamily="18" charset="0"/>
                <a:cs typeface="Times New Roman" pitchFamily="18" charset="0"/>
              </a:rPr>
              <a:t>Fig 1:Medication-Reminder</a:t>
            </a:r>
          </a:p>
        </p:txBody>
      </p:sp>
      <p:pic>
        <p:nvPicPr>
          <p:cNvPr id="40" name="image1.png"/>
          <p:cNvPicPr/>
          <p:nvPr/>
        </p:nvPicPr>
        <p:blipFill>
          <a:blip r:embed="rId3"/>
          <a:srcRect t="1974" b="1974"/>
          <a:stretch>
            <a:fillRect/>
          </a:stretch>
        </p:blipFill>
        <p:spPr>
          <a:xfrm>
            <a:off x="466562" y="16937355"/>
            <a:ext cx="5731200" cy="3365500"/>
          </a:xfrm>
          <a:prstGeom prst="rect">
            <a:avLst/>
          </a:prstGeom>
          <a:ln w="12700">
            <a:solidFill>
              <a:srgbClr val="000000"/>
            </a:solidFill>
            <a:prstDash val="solid"/>
          </a:ln>
        </p:spPr>
      </p:pic>
      <p:pic>
        <p:nvPicPr>
          <p:cNvPr id="1026" name="Picture 2" descr="C:\Users\ICON\Downloads\WhatsApp Image 2024-04-04 at 7.48.43 PM (5).jpeg"/>
          <p:cNvPicPr>
            <a:picLocks noChangeAspect="1" noChangeArrowheads="1"/>
          </p:cNvPicPr>
          <p:nvPr/>
        </p:nvPicPr>
        <p:blipFill>
          <a:blip r:embed="rId4"/>
          <a:srcRect/>
          <a:stretch>
            <a:fillRect/>
          </a:stretch>
        </p:blipFill>
        <p:spPr bwMode="auto">
          <a:xfrm>
            <a:off x="16360899" y="16471229"/>
            <a:ext cx="2142389" cy="4640029"/>
          </a:xfrm>
          <a:prstGeom prst="rect">
            <a:avLst/>
          </a:prstGeom>
          <a:noFill/>
        </p:spPr>
      </p:pic>
      <p:pic>
        <p:nvPicPr>
          <p:cNvPr id="1027" name="Picture 3" descr="C:\Users\ICON\Downloads\WhatsApp Image 2024-04-04 at 7.49.46 PM.jpeg"/>
          <p:cNvPicPr>
            <a:picLocks noChangeAspect="1" noChangeArrowheads="1"/>
          </p:cNvPicPr>
          <p:nvPr/>
        </p:nvPicPr>
        <p:blipFill>
          <a:blip r:embed="rId5" cstate="print"/>
          <a:srcRect/>
          <a:stretch>
            <a:fillRect/>
          </a:stretch>
        </p:blipFill>
        <p:spPr bwMode="auto">
          <a:xfrm>
            <a:off x="13638447" y="16482494"/>
            <a:ext cx="2132831" cy="4617768"/>
          </a:xfrm>
          <a:prstGeom prst="rect">
            <a:avLst/>
          </a:prstGeom>
          <a:noFill/>
        </p:spPr>
      </p:pic>
      <p:pic>
        <p:nvPicPr>
          <p:cNvPr id="2" name="Picture 4" descr="C:\Users\ICON\Downloads\WhatsApp Image 2024-04-04 at 7.50.39 PM (1).jpeg"/>
          <p:cNvPicPr>
            <a:picLocks noChangeAspect="1" noChangeArrowheads="1"/>
          </p:cNvPicPr>
          <p:nvPr/>
        </p:nvPicPr>
        <p:blipFill>
          <a:blip r:embed="rId6"/>
          <a:srcRect/>
          <a:stretch>
            <a:fillRect/>
          </a:stretch>
        </p:blipFill>
        <p:spPr bwMode="auto">
          <a:xfrm>
            <a:off x="19141574" y="16471812"/>
            <a:ext cx="2147375" cy="4650828"/>
          </a:xfrm>
          <a:prstGeom prst="rect">
            <a:avLst/>
          </a:prstGeom>
          <a:noFill/>
        </p:spPr>
      </p:pic>
      <p:grpSp>
        <p:nvGrpSpPr>
          <p:cNvPr id="42" name="Group 41"/>
          <p:cNvGrpSpPr/>
          <p:nvPr/>
        </p:nvGrpSpPr>
        <p:grpSpPr>
          <a:xfrm>
            <a:off x="16027078" y="4570650"/>
            <a:ext cx="5070677" cy="4180390"/>
            <a:chOff x="15798478" y="4463970"/>
            <a:chExt cx="5070677" cy="4180390"/>
          </a:xfrm>
        </p:grpSpPr>
        <p:sp>
          <p:nvSpPr>
            <p:cNvPr id="43" name="Curved Up Ribbon 42"/>
            <p:cNvSpPr/>
            <p:nvPr/>
          </p:nvSpPr>
          <p:spPr>
            <a:xfrm>
              <a:off x="16856598" y="4463970"/>
              <a:ext cx="3291840" cy="1874520"/>
            </a:xfrm>
            <a:prstGeom prst="ellipseRibbon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 Development</a:t>
              </a:r>
            </a:p>
          </p:txBody>
        </p:sp>
        <p:sp>
          <p:nvSpPr>
            <p:cNvPr id="44" name="Horizontal Scroll 43"/>
            <p:cNvSpPr/>
            <p:nvPr/>
          </p:nvSpPr>
          <p:spPr>
            <a:xfrm>
              <a:off x="15798478" y="6861280"/>
              <a:ext cx="2327476" cy="1783080"/>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iOS Application</a:t>
              </a:r>
            </a:p>
          </p:txBody>
        </p:sp>
        <p:sp>
          <p:nvSpPr>
            <p:cNvPr id="45" name="Horizontal Scroll 44"/>
            <p:cNvSpPr/>
            <p:nvPr/>
          </p:nvSpPr>
          <p:spPr>
            <a:xfrm>
              <a:off x="18514864" y="6705214"/>
              <a:ext cx="2354291" cy="1783080"/>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Android Application</a:t>
              </a:r>
            </a:p>
          </p:txBody>
        </p:sp>
      </p:grpSp>
      <p:grpSp>
        <p:nvGrpSpPr>
          <p:cNvPr id="76" name="Group 75"/>
          <p:cNvGrpSpPr/>
          <p:nvPr/>
        </p:nvGrpSpPr>
        <p:grpSpPr>
          <a:xfrm>
            <a:off x="0" y="9942049"/>
            <a:ext cx="21599525" cy="5796133"/>
            <a:chOff x="0" y="9942049"/>
            <a:chExt cx="21599525" cy="5796133"/>
          </a:xfrm>
        </p:grpSpPr>
        <p:sp>
          <p:nvSpPr>
            <p:cNvPr id="77" name="Rectangle 76"/>
            <p:cNvSpPr/>
            <p:nvPr/>
          </p:nvSpPr>
          <p:spPr>
            <a:xfrm>
              <a:off x="0" y="9942049"/>
              <a:ext cx="21599525" cy="5796133"/>
            </a:xfrm>
            <a:prstGeom prst="rect">
              <a:avLst/>
            </a:prstGeom>
            <a:solidFill>
              <a:srgbClr val="BFE7FF"/>
            </a:solidFill>
            <a:ln>
              <a:solidFill>
                <a:schemeClr val="accent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0" dirty="0"/>
            </a:p>
          </p:txBody>
        </p:sp>
        <p:grpSp>
          <p:nvGrpSpPr>
            <p:cNvPr id="78" name="Group 62"/>
            <p:cNvGrpSpPr/>
            <p:nvPr/>
          </p:nvGrpSpPr>
          <p:grpSpPr>
            <a:xfrm>
              <a:off x="182881" y="11948160"/>
              <a:ext cx="2926080" cy="2423160"/>
              <a:chOff x="624840" y="11628120"/>
              <a:chExt cx="3230880" cy="2621280"/>
            </a:xfrm>
          </p:grpSpPr>
          <p:sp>
            <p:nvSpPr>
              <p:cNvPr id="101" name="Rectangle 100"/>
              <p:cNvSpPr/>
              <p:nvPr/>
            </p:nvSpPr>
            <p:spPr>
              <a:xfrm>
                <a:off x="624840" y="11628120"/>
                <a:ext cx="3230880" cy="262128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TextBox 101"/>
              <p:cNvSpPr txBox="1"/>
              <p:nvPr/>
            </p:nvSpPr>
            <p:spPr>
              <a:xfrm>
                <a:off x="640080" y="12298680"/>
                <a:ext cx="3215640" cy="1598116"/>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Data Collection</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Processing and measuring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the data  of sample size of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N = 10, N = 10</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Total = 20</a:t>
                </a:r>
              </a:p>
            </p:txBody>
          </p:sp>
        </p:grpSp>
        <p:sp>
          <p:nvSpPr>
            <p:cNvPr id="79" name="Right Arrow 78"/>
            <p:cNvSpPr/>
            <p:nvPr/>
          </p:nvSpPr>
          <p:spPr>
            <a:xfrm>
              <a:off x="3246120" y="12938760"/>
              <a:ext cx="838200" cy="243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Up Arrow 79"/>
            <p:cNvSpPr/>
            <p:nvPr/>
          </p:nvSpPr>
          <p:spPr>
            <a:xfrm>
              <a:off x="5445760" y="11993880"/>
              <a:ext cx="304800" cy="25908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Down Arrow 80"/>
            <p:cNvSpPr/>
            <p:nvPr/>
          </p:nvSpPr>
          <p:spPr>
            <a:xfrm>
              <a:off x="5461000" y="14178280"/>
              <a:ext cx="274320" cy="289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lowchart: Terminator 81">
              <a:extLst>
                <a:ext uri="{FF2B5EF4-FFF2-40B4-BE49-F238E27FC236}">
                  <a16:creationId xmlns:a16="http://schemas.microsoft.com/office/drawing/2014/main" xmlns="" id="{90C18176-DB2D-8A7C-EC80-4700A3A3CEBC}"/>
                </a:ext>
              </a:extLst>
            </p:cNvPr>
            <p:cNvSpPr/>
            <p:nvPr/>
          </p:nvSpPr>
          <p:spPr>
            <a:xfrm>
              <a:off x="4101942" y="10952444"/>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Android</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Application</a:t>
              </a:r>
            </a:p>
          </p:txBody>
        </p:sp>
        <p:sp>
          <p:nvSpPr>
            <p:cNvPr id="83" name="Flowchart: Terminator 82">
              <a:extLst>
                <a:ext uri="{FF2B5EF4-FFF2-40B4-BE49-F238E27FC236}">
                  <a16:creationId xmlns:a16="http://schemas.microsoft.com/office/drawing/2014/main" xmlns="" id="{FF0E4F9A-29F0-45B3-435D-6AD8322398ED}"/>
                </a:ext>
              </a:extLst>
            </p:cNvPr>
            <p:cNvSpPr/>
            <p:nvPr/>
          </p:nvSpPr>
          <p:spPr>
            <a:xfrm>
              <a:off x="4040556" y="14565109"/>
              <a:ext cx="3152724" cy="833881"/>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iOS</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Application</a:t>
              </a:r>
            </a:p>
          </p:txBody>
        </p:sp>
        <p:sp>
          <p:nvSpPr>
            <p:cNvPr id="84" name="Flowchart: Process 83">
              <a:extLst>
                <a:ext uri="{FF2B5EF4-FFF2-40B4-BE49-F238E27FC236}">
                  <a16:creationId xmlns:a16="http://schemas.microsoft.com/office/drawing/2014/main" xmlns="" id="{F20469D1-FF1C-91EB-CCC8-EAE25FEFA3D3}"/>
                </a:ext>
              </a:extLst>
            </p:cNvPr>
            <p:cNvSpPr/>
            <p:nvPr/>
          </p:nvSpPr>
          <p:spPr>
            <a:xfrm>
              <a:off x="4230513" y="12337960"/>
              <a:ext cx="2779887" cy="1733640"/>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Choose Application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Strategy</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Analysis &amp; Planning.</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UI/UX Design.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App Development.</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Deployment &amp; Support.</a:t>
              </a:r>
            </a:p>
          </p:txBody>
        </p:sp>
        <p:sp>
          <p:nvSpPr>
            <p:cNvPr id="85" name="Flowchart: Process 84">
              <a:extLst>
                <a:ext uri="{FF2B5EF4-FFF2-40B4-BE49-F238E27FC236}">
                  <a16:creationId xmlns:a16="http://schemas.microsoft.com/office/drawing/2014/main" xmlns="" id="{F20469D1-FF1C-91EB-CCC8-EAE25FEFA3D3}"/>
                </a:ext>
              </a:extLst>
            </p:cNvPr>
            <p:cNvSpPr/>
            <p:nvPr/>
          </p:nvSpPr>
          <p:spPr>
            <a:xfrm>
              <a:off x="7700152" y="10972801"/>
              <a:ext cx="3211688" cy="1727200"/>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Android Application Process</a:t>
              </a:r>
            </a:p>
            <a:p>
              <a:pPr marL="342900" indent="-342900" algn="ct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Database – XAMPP(MySQL)</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PHP- Visual Studio code.</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 Postman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Output- Android Studio</a:t>
              </a:r>
            </a:p>
            <a:p>
              <a:pPr algn="ctr">
                <a:buFont typeface="Wingdings" pitchFamily="2" charset="2"/>
                <a:buChar char="q"/>
              </a:pP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86" name="Flowchart: Process 85">
              <a:extLst>
                <a:ext uri="{FF2B5EF4-FFF2-40B4-BE49-F238E27FC236}">
                  <a16:creationId xmlns:a16="http://schemas.microsoft.com/office/drawing/2014/main" xmlns="" id="{F20469D1-FF1C-91EB-CCC8-EAE25FEFA3D3}"/>
                </a:ext>
              </a:extLst>
            </p:cNvPr>
            <p:cNvSpPr/>
            <p:nvPr/>
          </p:nvSpPr>
          <p:spPr>
            <a:xfrm>
              <a:off x="7740792" y="13736321"/>
              <a:ext cx="3211688" cy="1727200"/>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iOS Application Process</a:t>
              </a:r>
            </a:p>
            <a:p>
              <a:pPr marL="342900" indent="-342900" algn="ctr"/>
              <a:endParaRPr lang="en-IN" b="1" dirty="0">
                <a:solidFill>
                  <a:schemeClr val="tx1"/>
                </a:solidFill>
                <a:latin typeface="Times New Roman" panose="02020603050405020304" pitchFamily="18" charset="0"/>
                <a:cs typeface="Times New Roman" panose="02020603050405020304" pitchFamily="18" charset="0"/>
              </a:endParaRP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Database – XAMPP(MySQL)</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PHP- Visual Studio code.</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Testing- Postman</a:t>
              </a:r>
            </a:p>
            <a:p>
              <a:pPr>
                <a:buFont typeface="Wingdings" pitchFamily="2" charset="2"/>
                <a:buChar char="Ø"/>
              </a:pPr>
              <a:r>
                <a:rPr lang="en-IN" sz="1600" dirty="0">
                  <a:solidFill>
                    <a:schemeClr val="tx1"/>
                  </a:solidFill>
                  <a:latin typeface="Times New Roman" panose="02020603050405020304" pitchFamily="18" charset="0"/>
                  <a:cs typeface="Times New Roman" panose="02020603050405020304" pitchFamily="18" charset="0"/>
                </a:rPr>
                <a:t>Output- Swift Xcode</a:t>
              </a:r>
            </a:p>
            <a:p>
              <a:pPr algn="ctr">
                <a:buFont typeface="Wingdings" pitchFamily="2" charset="2"/>
                <a:buChar char="q"/>
              </a:pP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87" name="Right Arrow 86"/>
            <p:cNvSpPr/>
            <p:nvPr/>
          </p:nvSpPr>
          <p:spPr>
            <a:xfrm>
              <a:off x="7294880" y="1132840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Flowchart: Process 87">
              <a:extLst>
                <a:ext uri="{FF2B5EF4-FFF2-40B4-BE49-F238E27FC236}">
                  <a16:creationId xmlns:a16="http://schemas.microsoft.com/office/drawing/2014/main" xmlns="" id="{B4B23B58-2355-33FA-FF67-961ADA84137E}"/>
                </a:ext>
              </a:extLst>
            </p:cNvPr>
            <p:cNvSpPr/>
            <p:nvPr/>
          </p:nvSpPr>
          <p:spPr>
            <a:xfrm>
              <a:off x="11607150" y="13644879"/>
              <a:ext cx="2403490" cy="1798321"/>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User inputs</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(GET/POST)</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for Structure Model &amp;</a:t>
              </a:r>
            </a:p>
            <a:p>
              <a:pPr algn="ctr"/>
              <a:r>
                <a:rPr lang="en-IN" b="1" dirty="0">
                  <a:solidFill>
                    <a:schemeClr val="tx1"/>
                  </a:solidFill>
                  <a:latin typeface="Times New Roman" panose="02020603050405020304" pitchFamily="18" charset="0"/>
                  <a:cs typeface="Times New Roman" panose="02020603050405020304" pitchFamily="18" charset="0"/>
                </a:rPr>
                <a:t>backend connection</a:t>
              </a:r>
            </a:p>
          </p:txBody>
        </p:sp>
        <p:sp>
          <p:nvSpPr>
            <p:cNvPr id="89" name="Right Arrow 88"/>
            <p:cNvSpPr/>
            <p:nvPr/>
          </p:nvSpPr>
          <p:spPr>
            <a:xfrm>
              <a:off x="11094720" y="1474216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ight Arrow 89"/>
            <p:cNvSpPr/>
            <p:nvPr/>
          </p:nvSpPr>
          <p:spPr>
            <a:xfrm>
              <a:off x="11043920" y="1130808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Flowchart: Process 90">
              <a:extLst>
                <a:ext uri="{FF2B5EF4-FFF2-40B4-BE49-F238E27FC236}">
                  <a16:creationId xmlns:a16="http://schemas.microsoft.com/office/drawing/2014/main" xmlns="" id="{B4B23B58-2355-33FA-FF67-961ADA84137E}"/>
                </a:ext>
              </a:extLst>
            </p:cNvPr>
            <p:cNvSpPr/>
            <p:nvPr/>
          </p:nvSpPr>
          <p:spPr>
            <a:xfrm>
              <a:off x="11525870" y="10921999"/>
              <a:ext cx="2403490" cy="1798321"/>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Creating </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URL for backend </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connection with database</a:t>
              </a:r>
            </a:p>
          </p:txBody>
        </p:sp>
        <p:sp>
          <p:nvSpPr>
            <p:cNvPr id="92" name="Flowchart: Magnetic Disk 91"/>
            <p:cNvSpPr/>
            <p:nvPr/>
          </p:nvSpPr>
          <p:spPr>
            <a:xfrm>
              <a:off x="15075255" y="11779362"/>
              <a:ext cx="2141317" cy="2430684"/>
            </a:xfrm>
            <a:prstGeom prst="flowChartMagneticDisk">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Develop and Test the Data</a:t>
              </a:r>
            </a:p>
          </p:txBody>
        </p:sp>
        <p:cxnSp>
          <p:nvCxnSpPr>
            <p:cNvPr id="93" name="Curved Connector 92"/>
            <p:cNvCxnSpPr/>
            <p:nvPr/>
          </p:nvCxnSpPr>
          <p:spPr>
            <a:xfrm>
              <a:off x="13970643" y="11875625"/>
              <a:ext cx="879676" cy="590309"/>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94" name="Curved Connector 93"/>
            <p:cNvCxnSpPr/>
            <p:nvPr/>
          </p:nvCxnSpPr>
          <p:spPr>
            <a:xfrm flipV="1">
              <a:off x="14086390" y="13519230"/>
              <a:ext cx="775504" cy="694481"/>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5" name="Flowchart: Terminator 94">
              <a:extLst>
                <a:ext uri="{FF2B5EF4-FFF2-40B4-BE49-F238E27FC236}">
                  <a16:creationId xmlns:a16="http://schemas.microsoft.com/office/drawing/2014/main" xmlns="" id="{90C18176-DB2D-8A7C-EC80-4700A3A3CEBC}"/>
                </a:ext>
              </a:extLst>
            </p:cNvPr>
            <p:cNvSpPr/>
            <p:nvPr/>
          </p:nvSpPr>
          <p:spPr>
            <a:xfrm>
              <a:off x="14495043" y="10441422"/>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Retrieve User Data from the Database</a:t>
              </a:r>
            </a:p>
          </p:txBody>
        </p:sp>
        <p:sp>
          <p:nvSpPr>
            <p:cNvPr id="96" name="Flowchart: Terminator 95">
              <a:extLst>
                <a:ext uri="{FF2B5EF4-FFF2-40B4-BE49-F238E27FC236}">
                  <a16:creationId xmlns:a16="http://schemas.microsoft.com/office/drawing/2014/main" xmlns="" id="{90C18176-DB2D-8A7C-EC80-4700A3A3CEBC}"/>
                </a:ext>
              </a:extLst>
            </p:cNvPr>
            <p:cNvSpPr/>
            <p:nvPr/>
          </p:nvSpPr>
          <p:spPr>
            <a:xfrm>
              <a:off x="14638763" y="14694924"/>
              <a:ext cx="3055778" cy="947642"/>
            </a:xfrm>
            <a:prstGeom prst="flowChartTerminator">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latin typeface="Times New Roman" panose="02020603050405020304" pitchFamily="18" charset="0"/>
                  <a:cs typeface="Times New Roman" panose="02020603050405020304" pitchFamily="18" charset="0"/>
                </a:rPr>
                <a:t>Compare the user data</a:t>
              </a:r>
            </a:p>
          </p:txBody>
        </p:sp>
        <p:sp>
          <p:nvSpPr>
            <p:cNvPr id="97" name="Up Arrow 96"/>
            <p:cNvSpPr/>
            <p:nvPr/>
          </p:nvSpPr>
          <p:spPr>
            <a:xfrm>
              <a:off x="15917569" y="11449870"/>
              <a:ext cx="304800" cy="25908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Down Arrow 97"/>
            <p:cNvSpPr/>
            <p:nvPr/>
          </p:nvSpPr>
          <p:spPr>
            <a:xfrm>
              <a:off x="16030616" y="14330681"/>
              <a:ext cx="274320" cy="2895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Flowchart: Process 98">
              <a:extLst>
                <a:ext uri="{FF2B5EF4-FFF2-40B4-BE49-F238E27FC236}">
                  <a16:creationId xmlns:a16="http://schemas.microsoft.com/office/drawing/2014/main" xmlns="" id="{59745CF5-9AE5-6F4E-35A7-E58A50BC38ED}"/>
                </a:ext>
              </a:extLst>
            </p:cNvPr>
            <p:cNvSpPr/>
            <p:nvPr/>
          </p:nvSpPr>
          <p:spPr>
            <a:xfrm>
              <a:off x="18945586" y="11803849"/>
              <a:ext cx="2284246" cy="2211686"/>
            </a:xfrm>
            <a:prstGeom prst="flowChartProcess">
              <a:avLst/>
            </a:pr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Calculating</a:t>
              </a: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Development time</a:t>
              </a:r>
            </a:p>
          </p:txBody>
        </p:sp>
        <p:sp>
          <p:nvSpPr>
            <p:cNvPr id="100" name="Right Arrow 99"/>
            <p:cNvSpPr/>
            <p:nvPr/>
          </p:nvSpPr>
          <p:spPr>
            <a:xfrm>
              <a:off x="17708301" y="12654216"/>
              <a:ext cx="1030147" cy="4861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3" name="TextBox 102">
            <a:extLst>
              <a:ext uri="{FF2B5EF4-FFF2-40B4-BE49-F238E27FC236}">
                <a16:creationId xmlns:a16="http://schemas.microsoft.com/office/drawing/2014/main" xmlns="" id="{23AFED97-9AB8-64F2-31DC-77ECA5114D4F}"/>
              </a:ext>
            </a:extLst>
          </p:cNvPr>
          <p:cNvSpPr txBox="1"/>
          <p:nvPr/>
        </p:nvSpPr>
        <p:spPr>
          <a:xfrm>
            <a:off x="563880" y="20457558"/>
            <a:ext cx="5440680" cy="646331"/>
          </a:xfrm>
          <a:prstGeom prst="rect">
            <a:avLst/>
          </a:prstGeom>
          <a:noFill/>
        </p:spPr>
        <p:txBody>
          <a:bodyPr wrap="square" rtlCol="0">
            <a:spAutoFit/>
          </a:bodyPr>
          <a:lstStyle/>
          <a:p>
            <a:pPr algn="ctr"/>
            <a:r>
              <a:rPr lang="en-IN" b="1" dirty="0">
                <a:latin typeface="Times New Roman" pitchFamily="18" charset="0"/>
                <a:cs typeface="Times New Roman" pitchFamily="18" charset="0"/>
              </a:rPr>
              <a:t>Fig 2: Comparision of Andriod and iOS Application in terms of  </a:t>
            </a:r>
            <a:r>
              <a:rPr lang="en-IN" b="1" dirty="0"/>
              <a:t>Development Time</a:t>
            </a:r>
            <a:r>
              <a:rPr lang="en-IN" b="1" dirty="0">
                <a:latin typeface="Times New Roman" pitchFamily="18" charset="0"/>
                <a:cs typeface="Times New Roman" pitchFamily="18" charset="0"/>
              </a:rPr>
              <a:t>. </a:t>
            </a:r>
          </a:p>
        </p:txBody>
      </p:sp>
      <p:sp>
        <p:nvSpPr>
          <p:cNvPr id="166" name="TextBox 165">
            <a:extLst>
              <a:ext uri="{FF2B5EF4-FFF2-40B4-BE49-F238E27FC236}">
                <a16:creationId xmlns:a16="http://schemas.microsoft.com/office/drawing/2014/main" xmlns="" id="{23AFED97-9AB8-64F2-31DC-77ECA5114D4F}"/>
              </a:ext>
            </a:extLst>
          </p:cNvPr>
          <p:cNvSpPr txBox="1"/>
          <p:nvPr/>
        </p:nvSpPr>
        <p:spPr>
          <a:xfrm>
            <a:off x="6614160" y="18928080"/>
            <a:ext cx="6568440" cy="2862322"/>
          </a:xfrm>
          <a:prstGeom prst="rect">
            <a:avLst/>
          </a:prstGeom>
          <a:noFill/>
        </p:spPr>
        <p:txBody>
          <a:bodyPr wrap="square" rtlCol="0">
            <a:spAutoFit/>
          </a:bodyPr>
          <a:lstStyle/>
          <a:p>
            <a:pPr>
              <a:buFont typeface="Wingdings" pitchFamily="2" charset="2"/>
              <a:buChar char="Ø"/>
            </a:pPr>
            <a:r>
              <a:rPr lang="en-IN" b="1" dirty="0">
                <a:latin typeface="Times New Roman" pitchFamily="18" charset="0"/>
                <a:cs typeface="Times New Roman" pitchFamily="18" charset="0"/>
              </a:rPr>
              <a:t>Comparision of Andriod and iOS Application in terms of </a:t>
            </a:r>
            <a:r>
              <a:rPr lang="en-IN" b="1" dirty="0"/>
              <a:t>Development Time</a:t>
            </a:r>
            <a:r>
              <a:rPr lang="en-IN" b="1" dirty="0">
                <a:latin typeface="Times New Roman" pitchFamily="18" charset="0"/>
                <a:cs typeface="Times New Roman" pitchFamily="18" charset="0"/>
              </a:rPr>
              <a:t>.  </a:t>
            </a:r>
          </a:p>
          <a:p>
            <a:pPr>
              <a:buFont typeface="Wingdings" pitchFamily="2" charset="2"/>
              <a:buChar char="Ø"/>
            </a:pPr>
            <a:endParaRPr lang="en-IN" b="1" dirty="0">
              <a:latin typeface="Times New Roman" pitchFamily="18" charset="0"/>
              <a:cs typeface="Times New Roman" pitchFamily="18" charset="0"/>
            </a:endParaRPr>
          </a:p>
          <a:p>
            <a:pPr>
              <a:buFont typeface="Wingdings" pitchFamily="2" charset="2"/>
              <a:buChar char="Ø"/>
            </a:pPr>
            <a:r>
              <a:rPr lang="en-IN" b="1" dirty="0">
                <a:latin typeface="Times New Roman" pitchFamily="18" charset="0"/>
                <a:cs typeface="Times New Roman" pitchFamily="18" charset="0"/>
              </a:rPr>
              <a:t>The Mean Recovery Rate of iOS is significantly higher than Android in Medication-Reminder. </a:t>
            </a:r>
          </a:p>
          <a:p>
            <a:pPr>
              <a:buFont typeface="Wingdings" pitchFamily="2" charset="2"/>
              <a:buChar char="Ø"/>
            </a:pPr>
            <a:endParaRPr lang="en-IN" b="1" dirty="0">
              <a:latin typeface="Times New Roman" pitchFamily="18" charset="0"/>
              <a:cs typeface="Times New Roman" pitchFamily="18" charset="0"/>
            </a:endParaRPr>
          </a:p>
          <a:p>
            <a:pPr>
              <a:buFont typeface="Wingdings" pitchFamily="2" charset="2"/>
              <a:buChar char="Ø"/>
            </a:pPr>
            <a:r>
              <a:rPr lang="en-US" b="1" dirty="0">
                <a:latin typeface="Times New Roman" pitchFamily="18" charset="0"/>
                <a:cs typeface="Times New Roman" pitchFamily="18" charset="0"/>
              </a:rPr>
              <a:t>The choice of development framework, such as Swift for iOS and Android Studio for Android, can significantly influence development time and productivity.</a:t>
            </a:r>
            <a:endParaRPr lang="en-IN" b="1" dirty="0">
              <a:latin typeface="Times New Roman" pitchFamily="18" charset="0"/>
              <a:cs typeface="Times New Roman" pitchFamily="18" charset="0"/>
            </a:endParaRPr>
          </a:p>
          <a:p>
            <a:endParaRPr lang="en-IN" b="1" dirty="0">
              <a:latin typeface="Times New Roman" pitchFamily="18" charset="0"/>
              <a:cs typeface="Times New Roman" pitchFamily="18" charset="0"/>
            </a:endParaRPr>
          </a:p>
        </p:txBody>
      </p:sp>
      <p:sp>
        <p:nvSpPr>
          <p:cNvPr id="65" name="Rectangle 64"/>
          <p:cNvSpPr/>
          <p:nvPr/>
        </p:nvSpPr>
        <p:spPr>
          <a:xfrm>
            <a:off x="347797" y="15883865"/>
            <a:ext cx="1804362"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RESULTS</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66" name="Rectangle 65"/>
          <p:cNvSpPr/>
          <p:nvPr/>
        </p:nvSpPr>
        <p:spPr>
          <a:xfrm>
            <a:off x="389849" y="4164568"/>
            <a:ext cx="3189012"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INTRODUCTION</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67" name="Rectangle 66"/>
          <p:cNvSpPr/>
          <p:nvPr/>
        </p:nvSpPr>
        <p:spPr>
          <a:xfrm>
            <a:off x="389849" y="10107667"/>
            <a:ext cx="529674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MATERIALS AND METHODS</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68" name="Rectangle 67"/>
          <p:cNvSpPr/>
          <p:nvPr/>
        </p:nvSpPr>
        <p:spPr>
          <a:xfrm>
            <a:off x="394092" y="22138280"/>
            <a:ext cx="580367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DISCUSSION AND CONCLUSION</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69" name="Rectangle 68"/>
          <p:cNvSpPr/>
          <p:nvPr/>
        </p:nvSpPr>
        <p:spPr>
          <a:xfrm>
            <a:off x="389849" y="27485386"/>
            <a:ext cx="313736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5" b="1" dirty="0">
                <a:solidFill>
                  <a:schemeClr val="tx1"/>
                </a:solidFill>
                <a:latin typeface="Times New Roman" panose="02020603050405020304" pitchFamily="18" charset="0"/>
                <a:cs typeface="Times New Roman" panose="02020603050405020304" pitchFamily="18" charset="0"/>
              </a:rPr>
              <a:t>BIBLIOGRAPHY</a:t>
            </a:r>
            <a:endParaRPr lang="en-IN" sz="2785" b="1" dirty="0">
              <a:solidFill>
                <a:schemeClr val="tx1"/>
              </a:solidFill>
              <a:latin typeface="Times New Roman" panose="02020603050405020304" pitchFamily="18" charset="0"/>
              <a:cs typeface="Times New Roman" panose="02020603050405020304" pitchFamily="18" charset="0"/>
            </a:endParaRPr>
          </a:p>
        </p:txBody>
      </p:sp>
      <p:sp>
        <p:nvSpPr>
          <p:cNvPr id="70" name="Right Arrow 69"/>
          <p:cNvSpPr/>
          <p:nvPr/>
        </p:nvSpPr>
        <p:spPr>
          <a:xfrm>
            <a:off x="7294880" y="14833600"/>
            <a:ext cx="335280" cy="233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2" name="Table 71"/>
          <p:cNvGraphicFramePr>
            <a:graphicFrameLocks noGrp="1"/>
          </p:cNvGraphicFramePr>
          <p:nvPr/>
        </p:nvGraphicFramePr>
        <p:xfrm>
          <a:off x="6805914" y="16297153"/>
          <a:ext cx="6227180" cy="2325160"/>
        </p:xfrm>
        <a:graphic>
          <a:graphicData uri="http://schemas.openxmlformats.org/drawingml/2006/table">
            <a:tbl>
              <a:tblPr/>
              <a:tblGrid>
                <a:gridCol w="1192192">
                  <a:extLst>
                    <a:ext uri="{9D8B030D-6E8A-4147-A177-3AD203B41FA5}">
                      <a16:colId xmlns:a16="http://schemas.microsoft.com/office/drawing/2014/main" xmlns="" val="20000"/>
                    </a:ext>
                  </a:extLst>
                </a:gridCol>
                <a:gridCol w="996756">
                  <a:extLst>
                    <a:ext uri="{9D8B030D-6E8A-4147-A177-3AD203B41FA5}">
                      <a16:colId xmlns:a16="http://schemas.microsoft.com/office/drawing/2014/main" xmlns="" val="20001"/>
                    </a:ext>
                  </a:extLst>
                </a:gridCol>
                <a:gridCol w="773680">
                  <a:extLst>
                    <a:ext uri="{9D8B030D-6E8A-4147-A177-3AD203B41FA5}">
                      <a16:colId xmlns:a16="http://schemas.microsoft.com/office/drawing/2014/main" xmlns="" val="20002"/>
                    </a:ext>
                  </a:extLst>
                </a:gridCol>
                <a:gridCol w="1075604">
                  <a:extLst>
                    <a:ext uri="{9D8B030D-6E8A-4147-A177-3AD203B41FA5}">
                      <a16:colId xmlns:a16="http://schemas.microsoft.com/office/drawing/2014/main" xmlns="" val="20003"/>
                    </a:ext>
                  </a:extLst>
                </a:gridCol>
                <a:gridCol w="1094474">
                  <a:extLst>
                    <a:ext uri="{9D8B030D-6E8A-4147-A177-3AD203B41FA5}">
                      <a16:colId xmlns:a16="http://schemas.microsoft.com/office/drawing/2014/main" xmlns="" val="20004"/>
                    </a:ext>
                  </a:extLst>
                </a:gridCol>
                <a:gridCol w="1094474">
                  <a:extLst>
                    <a:ext uri="{9D8B030D-6E8A-4147-A177-3AD203B41FA5}">
                      <a16:colId xmlns:a16="http://schemas.microsoft.com/office/drawing/2014/main" xmlns="" val="20005"/>
                    </a:ext>
                  </a:extLst>
                </a:gridCol>
              </a:tblGrid>
              <a:tr h="464498">
                <a:tc gridSpan="6">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Group Statistics</a:t>
                      </a:r>
                      <a:endParaRPr lang="en-US" sz="1400"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928996">
                <a:tc>
                  <a:txBody>
                    <a:bodyPr/>
                    <a:lstStyle/>
                    <a:p>
                      <a:pPr marL="0" marR="0" algn="just">
                        <a:lnSpc>
                          <a:spcPct val="115000"/>
                        </a:lnSpc>
                        <a:spcBef>
                          <a:spcPts val="1200"/>
                        </a:spcBef>
                        <a:spcAft>
                          <a:spcPts val="0"/>
                        </a:spcAft>
                      </a:pPr>
                      <a:r>
                        <a:rPr lang="en-US" sz="1400" b="1" dirty="0">
                          <a:solidFill>
                            <a:schemeClr val="tx1"/>
                          </a:solidFill>
                          <a:latin typeface="Times New Roman"/>
                          <a:ea typeface="Times New Roman"/>
                          <a:cs typeface="Times New Roman"/>
                        </a:rPr>
                        <a:t> </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38100" algn="just">
                        <a:lnSpc>
                          <a:spcPct val="145000"/>
                        </a:lnSpc>
                        <a:spcBef>
                          <a:spcPts val="0"/>
                        </a:spcBef>
                        <a:spcAft>
                          <a:spcPts val="0"/>
                        </a:spcAft>
                      </a:pPr>
                      <a:r>
                        <a:rPr lang="en-US" sz="1400" b="1" dirty="0">
                          <a:solidFill>
                            <a:schemeClr val="tx1"/>
                          </a:solidFill>
                          <a:latin typeface="Times New Roman"/>
                          <a:ea typeface="Times New Roman"/>
                          <a:cs typeface="Times New Roman"/>
                        </a:rPr>
                        <a:t>Algorithm</a:t>
                      </a:r>
                      <a:endParaRPr lang="en-US" sz="1400" b="1" dirty="0">
                        <a:solidFill>
                          <a:schemeClr val="tx1"/>
                        </a:solidFill>
                        <a:latin typeface="Arial"/>
                        <a:ea typeface="Arial"/>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N</a:t>
                      </a:r>
                      <a:endParaRPr lang="en-US" sz="1400" b="1" dirty="0">
                        <a:solidFill>
                          <a:schemeClr val="tx1"/>
                        </a:solidFill>
                        <a:latin typeface="Arial"/>
                        <a:ea typeface="Arial"/>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Mean</a:t>
                      </a:r>
                      <a:endParaRPr lang="en-US" sz="1400" b="1" dirty="0">
                        <a:solidFill>
                          <a:schemeClr val="tx1"/>
                        </a:solidFill>
                        <a:latin typeface="Arial"/>
                        <a:ea typeface="Arial"/>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Std. Deviation</a:t>
                      </a:r>
                      <a:endParaRPr lang="en-US" sz="1400" b="1" dirty="0">
                        <a:solidFill>
                          <a:schemeClr val="tx1"/>
                        </a:solidFill>
                        <a:latin typeface="Arial"/>
                        <a:ea typeface="Arial"/>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Std. Error Mean</a:t>
                      </a:r>
                      <a:endParaRPr lang="en-US" sz="1400" b="1" dirty="0">
                        <a:solidFill>
                          <a:schemeClr val="tx1"/>
                        </a:solidFill>
                        <a:latin typeface="Arial"/>
                        <a:ea typeface="Arial"/>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467168">
                <a:tc rowSpan="2">
                  <a:txBody>
                    <a:bodyPr/>
                    <a:lstStyle/>
                    <a:p>
                      <a:pPr marL="38100" marR="38100" algn="just">
                        <a:lnSpc>
                          <a:spcPct val="145000"/>
                        </a:lnSpc>
                        <a:spcBef>
                          <a:spcPts val="0"/>
                        </a:spcBef>
                        <a:spcAft>
                          <a:spcPts val="0"/>
                        </a:spcAft>
                      </a:pPr>
                      <a:r>
                        <a:rPr lang="en-US" sz="1400" b="1" dirty="0">
                          <a:solidFill>
                            <a:schemeClr val="tx1"/>
                          </a:solidFill>
                          <a:latin typeface="Times New Roman"/>
                          <a:ea typeface="Times New Roman"/>
                          <a:cs typeface="Times New Roman"/>
                        </a:rPr>
                        <a:t>Development Time</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Android</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10</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r">
                        <a:lnSpc>
                          <a:spcPct val="145000"/>
                        </a:lnSpc>
                        <a:spcBef>
                          <a:spcPts val="0"/>
                        </a:spcBef>
                        <a:spcAft>
                          <a:spcPts val="0"/>
                        </a:spcAft>
                      </a:pPr>
                      <a:r>
                        <a:rPr lang="en-US" sz="1400" b="1" dirty="0">
                          <a:solidFill>
                            <a:schemeClr val="tx1"/>
                          </a:solidFill>
                          <a:latin typeface="Times New Roman"/>
                          <a:ea typeface="Times New Roman"/>
                          <a:cs typeface="Times New Roman"/>
                        </a:rPr>
                        <a:t>30.80000</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5.95910</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1.88444</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2"/>
                  </a:ext>
                </a:extLst>
              </a:tr>
              <a:tr h="464498">
                <a:tc vMerge="1">
                  <a:txBody>
                    <a:bodyPr/>
                    <a:lstStyle/>
                    <a:p>
                      <a:endParaRPr lang="en-US"/>
                    </a:p>
                  </a:txBody>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iOS</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10</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r">
                        <a:lnSpc>
                          <a:spcPct val="145000"/>
                        </a:lnSpc>
                        <a:spcBef>
                          <a:spcPts val="0"/>
                        </a:spcBef>
                        <a:spcAft>
                          <a:spcPts val="0"/>
                        </a:spcAft>
                      </a:pPr>
                      <a:r>
                        <a:rPr lang="en-US" sz="1400" b="1" dirty="0">
                          <a:solidFill>
                            <a:schemeClr val="tx1"/>
                          </a:solidFill>
                          <a:latin typeface="Times New Roman"/>
                          <a:ea typeface="Times New Roman"/>
                          <a:cs typeface="Times New Roman"/>
                        </a:rPr>
                        <a:t>27.10000</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4.22821</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8100" marR="38100" algn="ctr">
                        <a:lnSpc>
                          <a:spcPct val="145000"/>
                        </a:lnSpc>
                        <a:spcBef>
                          <a:spcPts val="0"/>
                        </a:spcBef>
                        <a:spcAft>
                          <a:spcPts val="0"/>
                        </a:spcAft>
                      </a:pPr>
                      <a:r>
                        <a:rPr lang="en-US" sz="1400" b="1" dirty="0">
                          <a:solidFill>
                            <a:schemeClr val="tx1"/>
                          </a:solidFill>
                          <a:latin typeface="Times New Roman"/>
                          <a:ea typeface="Times New Roman"/>
                          <a:cs typeface="Times New Roman"/>
                        </a:rPr>
                        <a:t>1.33708</a:t>
                      </a:r>
                      <a:endParaRPr lang="en-US" sz="1400" b="1" dirty="0">
                        <a:solidFill>
                          <a:schemeClr val="tx1"/>
                        </a:solidFill>
                        <a:latin typeface="Arial"/>
                        <a:ea typeface="Arial"/>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1060</TotalTime>
  <Words>748</Words>
  <Application>Microsoft Office PowerPoint</Application>
  <PresentationFormat>Custom</PresentationFormat>
  <Paragraphs>97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ICON</cp:lastModifiedBy>
  <cp:revision>103</cp:revision>
  <dcterms:created xsi:type="dcterms:W3CDTF">2023-04-19T08:35:00Z</dcterms:created>
  <dcterms:modified xsi:type="dcterms:W3CDTF">2024-04-15T08:22:14Z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1033-12.2.0.13489</vt:lpwstr>
  </property>
</Properties>
</file>