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21599525" cy="327596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0318" userDrawn="1">
          <p15:clr>
            <a:srgbClr val="A4A3A4"/>
          </p15:clr>
        </p15:guide>
        <p15:guide id="2" pos="67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828282"/>
    <a:srgbClr val="D7F5CD"/>
    <a:srgbClr val="FCDCBF"/>
    <a:srgbClr val="BFE7FF"/>
    <a:srgbClr val="FFCFE7"/>
    <a:srgbClr val="FED67F"/>
    <a:srgbClr val="5F5F5F"/>
    <a:srgbClr val="FFF2CC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87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-336" y="6619"/>
      </p:cViewPr>
      <p:guideLst>
        <p:guide orient="horz" pos="10318"/>
        <p:guide pos="67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9965" y="5361362"/>
            <a:ext cx="18359596" cy="11405211"/>
          </a:xfrm>
        </p:spPr>
        <p:txBody>
          <a:bodyPr anchor="b"/>
          <a:lstStyle>
            <a:lvl1pPr algn="ctr">
              <a:defRPr sz="141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17206402"/>
            <a:ext cx="16199644" cy="7909330"/>
          </a:xfrm>
        </p:spPr>
        <p:txBody>
          <a:bodyPr/>
          <a:lstStyle>
            <a:lvl1pPr marL="0" indent="0" algn="ctr">
              <a:buNone/>
              <a:defRPr sz="5670"/>
            </a:lvl1pPr>
            <a:lvl2pPr marL="1080135" indent="0" algn="ctr">
              <a:buNone/>
              <a:defRPr sz="4725"/>
            </a:lvl2pPr>
            <a:lvl3pPr marL="2160270" indent="0" algn="ctr">
              <a:buNone/>
              <a:defRPr sz="4250"/>
            </a:lvl3pPr>
            <a:lvl4pPr marL="3239770" indent="0" algn="ctr">
              <a:buNone/>
              <a:defRPr sz="3780"/>
            </a:lvl4pPr>
            <a:lvl5pPr marL="4319905" indent="0" algn="ctr">
              <a:buNone/>
              <a:defRPr sz="3780"/>
            </a:lvl5pPr>
            <a:lvl6pPr marL="5400040" indent="0" algn="ctr">
              <a:buNone/>
              <a:defRPr sz="3780"/>
            </a:lvl6pPr>
            <a:lvl7pPr marL="6480175" indent="0" algn="ctr">
              <a:buNone/>
              <a:defRPr sz="3780"/>
            </a:lvl7pPr>
            <a:lvl8pPr marL="7559675" indent="0" algn="ctr">
              <a:buNone/>
              <a:defRPr sz="3780"/>
            </a:lvl8pPr>
            <a:lvl9pPr marL="8639810" indent="0" algn="ctr">
              <a:buNone/>
              <a:defRPr sz="37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pPr/>
              <a:t>15-04-2024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pPr/>
              <a:t>15-04-2024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9" y="8167172"/>
            <a:ext cx="18629590" cy="13627102"/>
          </a:xfrm>
        </p:spPr>
        <p:txBody>
          <a:bodyPr anchor="b"/>
          <a:lstStyle>
            <a:lvl1pPr>
              <a:defRPr sz="141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9" y="21923192"/>
            <a:ext cx="18629590" cy="7166171"/>
          </a:xfrm>
        </p:spPr>
        <p:txBody>
          <a:bodyPr/>
          <a:lstStyle>
            <a:lvl1pPr marL="0" indent="0">
              <a:buNone/>
              <a:defRPr sz="5670">
                <a:solidFill>
                  <a:schemeClr val="tx1"/>
                </a:solidFill>
              </a:defRPr>
            </a:lvl1pPr>
            <a:lvl2pPr marL="1080135" indent="0">
              <a:buNone/>
              <a:defRPr sz="4725">
                <a:solidFill>
                  <a:schemeClr val="tx1">
                    <a:tint val="75000"/>
                  </a:schemeClr>
                </a:solidFill>
              </a:defRPr>
            </a:lvl2pPr>
            <a:lvl3pPr marL="2160270" indent="0">
              <a:buNone/>
              <a:defRPr sz="4250">
                <a:solidFill>
                  <a:schemeClr val="tx1">
                    <a:tint val="75000"/>
                  </a:schemeClr>
                </a:solidFill>
              </a:defRPr>
            </a:lvl3pPr>
            <a:lvl4pPr marL="3239770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4pPr>
            <a:lvl5pPr marL="4319905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5pPr>
            <a:lvl6pPr marL="5400040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6pPr>
            <a:lvl7pPr marL="6480175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7pPr>
            <a:lvl8pPr marL="7559675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8pPr>
            <a:lvl9pPr marL="8639810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pPr/>
              <a:t>15-04-2024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8720740"/>
            <a:ext cx="9179798" cy="2078569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8720740"/>
            <a:ext cx="9179798" cy="2078569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pPr/>
              <a:t>15-04-2024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1744155"/>
            <a:ext cx="18629590" cy="63320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3" y="8030666"/>
            <a:ext cx="9137610" cy="3935706"/>
          </a:xfrm>
        </p:spPr>
        <p:txBody>
          <a:bodyPr anchor="b"/>
          <a:lstStyle>
            <a:lvl1pPr marL="0" indent="0">
              <a:buNone/>
              <a:defRPr sz="5670" b="1"/>
            </a:lvl1pPr>
            <a:lvl2pPr marL="1080135" indent="0">
              <a:buNone/>
              <a:defRPr sz="4725" b="1"/>
            </a:lvl2pPr>
            <a:lvl3pPr marL="2160270" indent="0">
              <a:buNone/>
              <a:defRPr sz="4250" b="1"/>
            </a:lvl3pPr>
            <a:lvl4pPr marL="3239770" indent="0">
              <a:buNone/>
              <a:defRPr sz="3780" b="1"/>
            </a:lvl4pPr>
            <a:lvl5pPr marL="4319905" indent="0">
              <a:buNone/>
              <a:defRPr sz="3780" b="1"/>
            </a:lvl5pPr>
            <a:lvl6pPr marL="5400040" indent="0">
              <a:buNone/>
              <a:defRPr sz="3780" b="1"/>
            </a:lvl6pPr>
            <a:lvl7pPr marL="6480175" indent="0">
              <a:buNone/>
              <a:defRPr sz="3780" b="1"/>
            </a:lvl7pPr>
            <a:lvl8pPr marL="7559675" indent="0">
              <a:buNone/>
              <a:defRPr sz="3780" b="1"/>
            </a:lvl8pPr>
            <a:lvl9pPr marL="8639810" indent="0">
              <a:buNone/>
              <a:defRPr sz="378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3" y="11966372"/>
            <a:ext cx="9137610" cy="1760073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1" y="8030666"/>
            <a:ext cx="9182611" cy="3935706"/>
          </a:xfrm>
        </p:spPr>
        <p:txBody>
          <a:bodyPr anchor="b"/>
          <a:lstStyle>
            <a:lvl1pPr marL="0" indent="0">
              <a:buNone/>
              <a:defRPr sz="5670" b="1"/>
            </a:lvl1pPr>
            <a:lvl2pPr marL="1080135" indent="0">
              <a:buNone/>
              <a:defRPr sz="4725" b="1"/>
            </a:lvl2pPr>
            <a:lvl3pPr marL="2160270" indent="0">
              <a:buNone/>
              <a:defRPr sz="4250" b="1"/>
            </a:lvl3pPr>
            <a:lvl4pPr marL="3239770" indent="0">
              <a:buNone/>
              <a:defRPr sz="3780" b="1"/>
            </a:lvl4pPr>
            <a:lvl5pPr marL="4319905" indent="0">
              <a:buNone/>
              <a:defRPr sz="3780" b="1"/>
            </a:lvl5pPr>
            <a:lvl6pPr marL="5400040" indent="0">
              <a:buNone/>
              <a:defRPr sz="3780" b="1"/>
            </a:lvl6pPr>
            <a:lvl7pPr marL="6480175" indent="0">
              <a:buNone/>
              <a:defRPr sz="3780" b="1"/>
            </a:lvl7pPr>
            <a:lvl8pPr marL="7559675" indent="0">
              <a:buNone/>
              <a:defRPr sz="3780" b="1"/>
            </a:lvl8pPr>
            <a:lvl9pPr marL="8639810" indent="0">
              <a:buNone/>
              <a:defRPr sz="378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1" y="11966372"/>
            <a:ext cx="9182611" cy="1760073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pPr/>
              <a:t>15-04-2024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pPr/>
              <a:t>15-04-2024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pPr/>
              <a:t>15-04-2024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183977"/>
            <a:ext cx="6966409" cy="7643918"/>
          </a:xfrm>
        </p:spPr>
        <p:txBody>
          <a:bodyPr anchor="b"/>
          <a:lstStyle>
            <a:lvl1pPr>
              <a:defRPr sz="7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4716790"/>
            <a:ext cx="10934760" cy="23280585"/>
          </a:xfrm>
        </p:spPr>
        <p:txBody>
          <a:bodyPr/>
          <a:lstStyle>
            <a:lvl1pPr>
              <a:defRPr sz="7560"/>
            </a:lvl1pPr>
            <a:lvl2pPr>
              <a:defRPr sz="6615"/>
            </a:lvl2pPr>
            <a:lvl3pPr>
              <a:defRPr sz="5670"/>
            </a:lvl3pPr>
            <a:lvl4pPr>
              <a:defRPr sz="4725"/>
            </a:lvl4pPr>
            <a:lvl5pPr>
              <a:defRPr sz="4725"/>
            </a:lvl5pPr>
            <a:lvl6pPr>
              <a:defRPr sz="4725"/>
            </a:lvl6pPr>
            <a:lvl7pPr>
              <a:defRPr sz="4725"/>
            </a:lvl7pPr>
            <a:lvl8pPr>
              <a:defRPr sz="4725"/>
            </a:lvl8pPr>
            <a:lvl9pPr>
              <a:defRPr sz="472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9827895"/>
            <a:ext cx="6966409" cy="18207391"/>
          </a:xfrm>
        </p:spPr>
        <p:txBody>
          <a:bodyPr/>
          <a:lstStyle>
            <a:lvl1pPr marL="0" indent="0">
              <a:buNone/>
              <a:defRPr sz="3780"/>
            </a:lvl1pPr>
            <a:lvl2pPr marL="1080135" indent="0">
              <a:buNone/>
              <a:defRPr sz="3305"/>
            </a:lvl2pPr>
            <a:lvl3pPr marL="2160270" indent="0">
              <a:buNone/>
              <a:defRPr sz="2835"/>
            </a:lvl3pPr>
            <a:lvl4pPr marL="3239770" indent="0">
              <a:buNone/>
              <a:defRPr sz="2360"/>
            </a:lvl4pPr>
            <a:lvl5pPr marL="4319905" indent="0">
              <a:buNone/>
              <a:defRPr sz="2360"/>
            </a:lvl5pPr>
            <a:lvl6pPr marL="5400040" indent="0">
              <a:buNone/>
              <a:defRPr sz="2360"/>
            </a:lvl6pPr>
            <a:lvl7pPr marL="6480175" indent="0">
              <a:buNone/>
              <a:defRPr sz="2360"/>
            </a:lvl7pPr>
            <a:lvl8pPr marL="7559675" indent="0">
              <a:buNone/>
              <a:defRPr sz="2360"/>
            </a:lvl8pPr>
            <a:lvl9pPr marL="8639810" indent="0">
              <a:buNone/>
              <a:defRPr sz="236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pPr/>
              <a:t>15-04-2024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183977"/>
            <a:ext cx="6966409" cy="7643918"/>
          </a:xfrm>
        </p:spPr>
        <p:txBody>
          <a:bodyPr anchor="b"/>
          <a:lstStyle>
            <a:lvl1pPr>
              <a:defRPr sz="7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4716790"/>
            <a:ext cx="10934760" cy="23280585"/>
          </a:xfrm>
        </p:spPr>
        <p:txBody>
          <a:bodyPr anchor="t"/>
          <a:lstStyle>
            <a:lvl1pPr marL="0" indent="0">
              <a:buNone/>
              <a:defRPr sz="7560"/>
            </a:lvl1pPr>
            <a:lvl2pPr marL="1080135" indent="0">
              <a:buNone/>
              <a:defRPr sz="6615"/>
            </a:lvl2pPr>
            <a:lvl3pPr marL="2160270" indent="0">
              <a:buNone/>
              <a:defRPr sz="5670"/>
            </a:lvl3pPr>
            <a:lvl4pPr marL="3239770" indent="0">
              <a:buNone/>
              <a:defRPr sz="4725"/>
            </a:lvl4pPr>
            <a:lvl5pPr marL="4319905" indent="0">
              <a:buNone/>
              <a:defRPr sz="4725"/>
            </a:lvl5pPr>
            <a:lvl6pPr marL="5400040" indent="0">
              <a:buNone/>
              <a:defRPr sz="4725"/>
            </a:lvl6pPr>
            <a:lvl7pPr marL="6480175" indent="0">
              <a:buNone/>
              <a:defRPr sz="4725"/>
            </a:lvl7pPr>
            <a:lvl8pPr marL="7559675" indent="0">
              <a:buNone/>
              <a:defRPr sz="4725"/>
            </a:lvl8pPr>
            <a:lvl9pPr marL="8639810" indent="0">
              <a:buNone/>
              <a:defRPr sz="4725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9827895"/>
            <a:ext cx="6966409" cy="18207391"/>
          </a:xfrm>
        </p:spPr>
        <p:txBody>
          <a:bodyPr/>
          <a:lstStyle>
            <a:lvl1pPr marL="0" indent="0">
              <a:buNone/>
              <a:defRPr sz="3780"/>
            </a:lvl1pPr>
            <a:lvl2pPr marL="1080135" indent="0">
              <a:buNone/>
              <a:defRPr sz="3305"/>
            </a:lvl2pPr>
            <a:lvl3pPr marL="2160270" indent="0">
              <a:buNone/>
              <a:defRPr sz="2835"/>
            </a:lvl3pPr>
            <a:lvl4pPr marL="3239770" indent="0">
              <a:buNone/>
              <a:defRPr sz="2360"/>
            </a:lvl4pPr>
            <a:lvl5pPr marL="4319905" indent="0">
              <a:buNone/>
              <a:defRPr sz="2360"/>
            </a:lvl5pPr>
            <a:lvl6pPr marL="5400040" indent="0">
              <a:buNone/>
              <a:defRPr sz="2360"/>
            </a:lvl6pPr>
            <a:lvl7pPr marL="6480175" indent="0">
              <a:buNone/>
              <a:defRPr sz="2360"/>
            </a:lvl7pPr>
            <a:lvl8pPr marL="7559675" indent="0">
              <a:buNone/>
              <a:defRPr sz="2360"/>
            </a:lvl8pPr>
            <a:lvl9pPr marL="8639810" indent="0">
              <a:buNone/>
              <a:defRPr sz="236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pPr/>
              <a:t>15-04-2024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pPr/>
              <a:t>15-04-2024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1" y="1744148"/>
            <a:ext cx="4657398" cy="2776228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8" y="1744148"/>
            <a:ext cx="13702199" cy="277622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pPr/>
              <a:t>15-04-2024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1744155"/>
            <a:ext cx="18629590" cy="63320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8720740"/>
            <a:ext cx="18629590" cy="20785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30363349"/>
            <a:ext cx="4859893" cy="1744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2DA87-17A3-43A0-B86E-2FCFB6EFBC32}" type="datetimeFigureOut">
              <a:rPr lang="en-IN" smtClean="0"/>
              <a:pPr/>
              <a:t>15-04-2024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30363349"/>
            <a:ext cx="7289840" cy="1744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30363349"/>
            <a:ext cx="4859893" cy="1744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33070-D223-4E7B-BBE1-DD4C7F7A138D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160270" rtl="0" eaLnBrk="1" latinLnBrk="0" hangingPunct="1">
        <a:lnSpc>
          <a:spcPct val="90000"/>
        </a:lnSpc>
        <a:spcBef>
          <a:spcPct val="0"/>
        </a:spcBef>
        <a:buNone/>
        <a:defRPr sz="103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9750" indent="-539750" algn="l" defTabSz="2160270" rtl="0" eaLnBrk="1" latinLnBrk="0" hangingPunct="1">
        <a:lnSpc>
          <a:spcPct val="90000"/>
        </a:lnSpc>
        <a:spcBef>
          <a:spcPts val="2360"/>
        </a:spcBef>
        <a:buFont typeface="Arial" panose="020B0604020202020204" pitchFamily="34" charset="0"/>
        <a:buChar char="•"/>
        <a:defRPr sz="6615" kern="1200">
          <a:solidFill>
            <a:schemeClr val="tx1"/>
          </a:solidFill>
          <a:latin typeface="+mn-lt"/>
          <a:ea typeface="+mn-ea"/>
          <a:cs typeface="+mn-cs"/>
        </a:defRPr>
      </a:lvl1pPr>
      <a:lvl2pPr marL="1619885" indent="-539750" algn="l" defTabSz="2160270" rtl="0" eaLnBrk="1" latinLnBrk="0" hangingPunct="1">
        <a:lnSpc>
          <a:spcPct val="90000"/>
        </a:lnSpc>
        <a:spcBef>
          <a:spcPts val="1180"/>
        </a:spcBef>
        <a:buFont typeface="Arial" panose="020B0604020202020204" pitchFamily="34" charset="0"/>
        <a:buChar char="•"/>
        <a:defRPr sz="5670" kern="1200">
          <a:solidFill>
            <a:schemeClr val="tx1"/>
          </a:solidFill>
          <a:latin typeface="+mn-lt"/>
          <a:ea typeface="+mn-ea"/>
          <a:cs typeface="+mn-cs"/>
        </a:defRPr>
      </a:lvl2pPr>
      <a:lvl3pPr marL="2700020" indent="-539750" algn="l" defTabSz="2160270" rtl="0" eaLnBrk="1" latinLnBrk="0" hangingPunct="1">
        <a:lnSpc>
          <a:spcPct val="90000"/>
        </a:lnSpc>
        <a:spcBef>
          <a:spcPts val="1180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3pPr>
      <a:lvl4pPr marL="3780155" indent="-539750" algn="l" defTabSz="2160270" rtl="0" eaLnBrk="1" latinLnBrk="0" hangingPunct="1">
        <a:lnSpc>
          <a:spcPct val="90000"/>
        </a:lnSpc>
        <a:spcBef>
          <a:spcPts val="1180"/>
        </a:spcBef>
        <a:buFont typeface="Arial" panose="020B0604020202020204" pitchFamily="34" charset="0"/>
        <a:buChar char="•"/>
        <a:defRPr sz="4250" kern="1200">
          <a:solidFill>
            <a:schemeClr val="tx1"/>
          </a:solidFill>
          <a:latin typeface="+mn-lt"/>
          <a:ea typeface="+mn-ea"/>
          <a:cs typeface="+mn-cs"/>
        </a:defRPr>
      </a:lvl4pPr>
      <a:lvl5pPr marL="4860290" indent="-539750" algn="l" defTabSz="2160270" rtl="0" eaLnBrk="1" latinLnBrk="0" hangingPunct="1">
        <a:lnSpc>
          <a:spcPct val="90000"/>
        </a:lnSpc>
        <a:spcBef>
          <a:spcPts val="1180"/>
        </a:spcBef>
        <a:buFont typeface="Arial" panose="020B0604020202020204" pitchFamily="34" charset="0"/>
        <a:buChar char="•"/>
        <a:defRPr sz="4250" kern="1200">
          <a:solidFill>
            <a:schemeClr val="tx1"/>
          </a:solidFill>
          <a:latin typeface="+mn-lt"/>
          <a:ea typeface="+mn-ea"/>
          <a:cs typeface="+mn-cs"/>
        </a:defRPr>
      </a:lvl5pPr>
      <a:lvl6pPr marL="5939790" indent="-539750" algn="l" defTabSz="2160270" rtl="0" eaLnBrk="1" latinLnBrk="0" hangingPunct="1">
        <a:lnSpc>
          <a:spcPct val="90000"/>
        </a:lnSpc>
        <a:spcBef>
          <a:spcPts val="1180"/>
        </a:spcBef>
        <a:buFont typeface="Arial" panose="020B0604020202020204" pitchFamily="34" charset="0"/>
        <a:buChar char="•"/>
        <a:defRPr sz="4250" kern="1200">
          <a:solidFill>
            <a:schemeClr val="tx1"/>
          </a:solidFill>
          <a:latin typeface="+mn-lt"/>
          <a:ea typeface="+mn-ea"/>
          <a:cs typeface="+mn-cs"/>
        </a:defRPr>
      </a:lvl6pPr>
      <a:lvl7pPr marL="7019925" indent="-539750" algn="l" defTabSz="2160270" rtl="0" eaLnBrk="1" latinLnBrk="0" hangingPunct="1">
        <a:lnSpc>
          <a:spcPct val="90000"/>
        </a:lnSpc>
        <a:spcBef>
          <a:spcPts val="1180"/>
        </a:spcBef>
        <a:buFont typeface="Arial" panose="020B0604020202020204" pitchFamily="34" charset="0"/>
        <a:buChar char="•"/>
        <a:defRPr sz="4250" kern="1200">
          <a:solidFill>
            <a:schemeClr val="tx1"/>
          </a:solidFill>
          <a:latin typeface="+mn-lt"/>
          <a:ea typeface="+mn-ea"/>
          <a:cs typeface="+mn-cs"/>
        </a:defRPr>
      </a:lvl7pPr>
      <a:lvl8pPr marL="8100060" indent="-539750" algn="l" defTabSz="2160270" rtl="0" eaLnBrk="1" latinLnBrk="0" hangingPunct="1">
        <a:lnSpc>
          <a:spcPct val="90000"/>
        </a:lnSpc>
        <a:spcBef>
          <a:spcPts val="1180"/>
        </a:spcBef>
        <a:buFont typeface="Arial" panose="020B0604020202020204" pitchFamily="34" charset="0"/>
        <a:buChar char="•"/>
        <a:defRPr sz="4250" kern="1200">
          <a:solidFill>
            <a:schemeClr val="tx1"/>
          </a:solidFill>
          <a:latin typeface="+mn-lt"/>
          <a:ea typeface="+mn-ea"/>
          <a:cs typeface="+mn-cs"/>
        </a:defRPr>
      </a:lvl8pPr>
      <a:lvl9pPr marL="9180195" indent="-539750" algn="l" defTabSz="2160270" rtl="0" eaLnBrk="1" latinLnBrk="0" hangingPunct="1">
        <a:lnSpc>
          <a:spcPct val="90000"/>
        </a:lnSpc>
        <a:spcBef>
          <a:spcPts val="1180"/>
        </a:spcBef>
        <a:buFont typeface="Arial" panose="020B0604020202020204" pitchFamily="34" charset="0"/>
        <a:buChar char="•"/>
        <a:defRPr sz="42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60270" rtl="0" eaLnBrk="1" latinLnBrk="0" hangingPunct="1">
        <a:defRPr sz="4250" kern="1200">
          <a:solidFill>
            <a:schemeClr val="tx1"/>
          </a:solidFill>
          <a:latin typeface="+mn-lt"/>
          <a:ea typeface="+mn-ea"/>
          <a:cs typeface="+mn-cs"/>
        </a:defRPr>
      </a:lvl1pPr>
      <a:lvl2pPr marL="1080135" algn="l" defTabSz="2160270" rtl="0" eaLnBrk="1" latinLnBrk="0" hangingPunct="1">
        <a:defRPr sz="4250" kern="1200">
          <a:solidFill>
            <a:schemeClr val="tx1"/>
          </a:solidFill>
          <a:latin typeface="+mn-lt"/>
          <a:ea typeface="+mn-ea"/>
          <a:cs typeface="+mn-cs"/>
        </a:defRPr>
      </a:lvl2pPr>
      <a:lvl3pPr marL="2160270" algn="l" defTabSz="2160270" rtl="0" eaLnBrk="1" latinLnBrk="0" hangingPunct="1">
        <a:defRPr sz="4250" kern="1200">
          <a:solidFill>
            <a:schemeClr val="tx1"/>
          </a:solidFill>
          <a:latin typeface="+mn-lt"/>
          <a:ea typeface="+mn-ea"/>
          <a:cs typeface="+mn-cs"/>
        </a:defRPr>
      </a:lvl3pPr>
      <a:lvl4pPr marL="3239770" algn="l" defTabSz="2160270" rtl="0" eaLnBrk="1" latinLnBrk="0" hangingPunct="1">
        <a:defRPr sz="4250" kern="1200">
          <a:solidFill>
            <a:schemeClr val="tx1"/>
          </a:solidFill>
          <a:latin typeface="+mn-lt"/>
          <a:ea typeface="+mn-ea"/>
          <a:cs typeface="+mn-cs"/>
        </a:defRPr>
      </a:lvl4pPr>
      <a:lvl5pPr marL="4319905" algn="l" defTabSz="2160270" rtl="0" eaLnBrk="1" latinLnBrk="0" hangingPunct="1">
        <a:defRPr sz="425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40" algn="l" defTabSz="2160270" rtl="0" eaLnBrk="1" latinLnBrk="0" hangingPunct="1">
        <a:defRPr sz="4250" kern="1200">
          <a:solidFill>
            <a:schemeClr val="tx1"/>
          </a:solidFill>
          <a:latin typeface="+mn-lt"/>
          <a:ea typeface="+mn-ea"/>
          <a:cs typeface="+mn-cs"/>
        </a:defRPr>
      </a:lvl6pPr>
      <a:lvl7pPr marL="6480175" algn="l" defTabSz="2160270" rtl="0" eaLnBrk="1" latinLnBrk="0" hangingPunct="1">
        <a:defRPr sz="4250" kern="1200">
          <a:solidFill>
            <a:schemeClr val="tx1"/>
          </a:solidFill>
          <a:latin typeface="+mn-lt"/>
          <a:ea typeface="+mn-ea"/>
          <a:cs typeface="+mn-cs"/>
        </a:defRPr>
      </a:lvl7pPr>
      <a:lvl8pPr marL="7559675" algn="l" defTabSz="2160270" rtl="0" eaLnBrk="1" latinLnBrk="0" hangingPunct="1">
        <a:defRPr sz="4250" kern="1200">
          <a:solidFill>
            <a:schemeClr val="tx1"/>
          </a:solidFill>
          <a:latin typeface="+mn-lt"/>
          <a:ea typeface="+mn-ea"/>
          <a:cs typeface="+mn-cs"/>
        </a:defRPr>
      </a:lvl8pPr>
      <a:lvl9pPr marL="8639810" algn="l" defTabSz="2160270" rtl="0" eaLnBrk="1" latinLnBrk="0" hangingPunct="1">
        <a:defRPr sz="42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978186"/>
            <a:ext cx="21599525" cy="6074795"/>
          </a:xfrm>
          <a:prstGeom prst="rect">
            <a:avLst/>
          </a:prstGeom>
          <a:solidFill>
            <a:srgbClr val="FED67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0" dirty="0"/>
          </a:p>
        </p:txBody>
      </p:sp>
      <p:sp>
        <p:nvSpPr>
          <p:cNvPr id="6" name="Rectangle 5"/>
          <p:cNvSpPr/>
          <p:nvPr/>
        </p:nvSpPr>
        <p:spPr>
          <a:xfrm>
            <a:off x="-1" y="15728297"/>
            <a:ext cx="21599525" cy="6283988"/>
          </a:xfrm>
          <a:prstGeom prst="rect">
            <a:avLst/>
          </a:prstGeom>
          <a:solidFill>
            <a:srgbClr val="FFCFE7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altLang="en-US" sz="2000" dirty="0"/>
          </a:p>
        </p:txBody>
      </p:sp>
      <p:sp>
        <p:nvSpPr>
          <p:cNvPr id="7" name="Rectangle 6"/>
          <p:cNvSpPr/>
          <p:nvPr/>
        </p:nvSpPr>
        <p:spPr>
          <a:xfrm>
            <a:off x="16106" y="21968050"/>
            <a:ext cx="21583419" cy="5352512"/>
          </a:xfrm>
          <a:prstGeom prst="rect">
            <a:avLst/>
          </a:prstGeom>
          <a:solidFill>
            <a:srgbClr val="FCDCB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0" dirty="0"/>
          </a:p>
        </p:txBody>
      </p:sp>
      <p:sp>
        <p:nvSpPr>
          <p:cNvPr id="8" name="Rectangle 7"/>
          <p:cNvSpPr/>
          <p:nvPr/>
        </p:nvSpPr>
        <p:spPr>
          <a:xfrm>
            <a:off x="-8251" y="27310081"/>
            <a:ext cx="21607776" cy="5615138"/>
          </a:xfrm>
          <a:prstGeom prst="rect">
            <a:avLst/>
          </a:prstGeom>
          <a:solidFill>
            <a:srgbClr val="D7F5CD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0" dirty="0"/>
          </a:p>
        </p:txBody>
      </p:sp>
      <p:sp>
        <p:nvSpPr>
          <p:cNvPr id="10" name="Rectangle 9"/>
          <p:cNvSpPr/>
          <p:nvPr/>
        </p:nvSpPr>
        <p:spPr>
          <a:xfrm>
            <a:off x="30970" y="2522585"/>
            <a:ext cx="21568555" cy="1502711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0" dirty="0"/>
          </a:p>
        </p:txBody>
      </p:sp>
      <p:sp>
        <p:nvSpPr>
          <p:cNvPr id="15" name="TextBox 14"/>
          <p:cNvSpPr txBox="1"/>
          <p:nvPr/>
        </p:nvSpPr>
        <p:spPr>
          <a:xfrm>
            <a:off x="348719" y="2554293"/>
            <a:ext cx="20898834" cy="1296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en-US" sz="3690" b="1" dirty="0">
                <a:latin typeface="Times New Roman" pitchFamily="18" charset="0"/>
                <a:cs typeface="Times New Roman" pitchFamily="18" charset="0"/>
              </a:rPr>
              <a:t>Enhancing Rating Accuracy </a:t>
            </a:r>
            <a:r>
              <a:rPr lang="en-US" sz="3690" b="1" dirty="0" smtClean="0">
                <a:latin typeface="Times New Roman" pitchFamily="18" charset="0"/>
                <a:cs typeface="Times New Roman" pitchFamily="18" charset="0"/>
              </a:rPr>
              <a:t>Through </a:t>
            </a:r>
            <a:r>
              <a:rPr lang="en-US" sz="3690" b="1" dirty="0">
                <a:latin typeface="Times New Roman" pitchFamily="18" charset="0"/>
                <a:cs typeface="Times New Roman" pitchFamily="18" charset="0"/>
              </a:rPr>
              <a:t>Quantitative </a:t>
            </a:r>
            <a:r>
              <a:rPr lang="en-US" sz="3690" b="1" dirty="0" smtClean="0">
                <a:latin typeface="Times New Roman" pitchFamily="18" charset="0"/>
                <a:cs typeface="Times New Roman" pitchFamily="18" charset="0"/>
              </a:rPr>
              <a:t>Survey </a:t>
            </a:r>
            <a:r>
              <a:rPr lang="en-US" sz="3690" b="1" dirty="0">
                <a:latin typeface="Times New Roman" pitchFamily="18" charset="0"/>
                <a:cs typeface="Times New Roman" pitchFamily="18" charset="0"/>
              </a:rPr>
              <a:t>on Medication Reminder App for </a:t>
            </a:r>
            <a:r>
              <a:rPr lang="en-US" sz="3690" b="1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3690" b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3690" b="1" dirty="0" smtClean="0">
                <a:latin typeface="Times New Roman" pitchFamily="18" charset="0"/>
                <a:cs typeface="Times New Roman" pitchFamily="18" charset="0"/>
              </a:rPr>
              <a:t>omparative </a:t>
            </a:r>
            <a:r>
              <a:rPr lang="en-US" sz="3690" b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3690" b="1" dirty="0" smtClean="0">
                <a:latin typeface="Times New Roman" pitchFamily="18" charset="0"/>
                <a:cs typeface="Times New Roman" pitchFamily="18" charset="0"/>
              </a:rPr>
              <a:t>tudy </a:t>
            </a:r>
            <a:r>
              <a:rPr lang="en-US" sz="3690" b="1" dirty="0">
                <a:latin typeface="Times New Roman" pitchFamily="18" charset="0"/>
                <a:cs typeface="Times New Roman" pitchFamily="18" charset="0"/>
              </a:rPr>
              <a:t>Between Android Application and iOS Application</a:t>
            </a:r>
            <a:endParaRPr lang="en-IN" sz="3690" b="1" dirty="0">
              <a:effectLst/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225083" y="1463838"/>
            <a:ext cx="8384766" cy="85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9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Ms. Poorani.S            </a:t>
            </a:r>
          </a:p>
          <a:p>
            <a:pPr algn="r"/>
            <a:r>
              <a:rPr lang="en-US" sz="249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Guided by Dr. Mary Valantina. G</a:t>
            </a:r>
            <a:endParaRPr lang="en-IN" sz="249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0" y="4042410"/>
            <a:ext cx="15727680" cy="56114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0995" indent="-340995">
              <a:buFont typeface="Wingdings" panose="05000000000000000000" pitchFamily="2" charset="2"/>
              <a:buChar char="Ø"/>
            </a:pPr>
            <a:endParaRPr lang="en-US" altLang="en-IN" sz="219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0995" indent="-340995" algn="just">
              <a:buFont typeface="Wingdings" panose="05000000000000000000" pitchFamily="2" charset="2"/>
              <a:buChar char="Ø"/>
            </a:pPr>
            <a:endParaRPr lang="en-US" sz="2190" b="1" dirty="0">
              <a:latin typeface="Times New Roman" pitchFamily="18" charset="0"/>
              <a:cs typeface="Times New Roman" pitchFamily="18" charset="0"/>
            </a:endParaRPr>
          </a:p>
          <a:p>
            <a:pPr marL="798195" lvl="1" indent="-340995" algn="just">
              <a:buFont typeface="Wingdings" pitchFamily="2" charset="2"/>
              <a:buChar char="Ø"/>
            </a:pPr>
            <a:r>
              <a:rPr lang="en-US" sz="2190" b="1" dirty="0">
                <a:latin typeface="Times New Roman" pitchFamily="18" charset="0"/>
                <a:cs typeface="Times New Roman" pitchFamily="18" charset="0"/>
              </a:rPr>
              <a:t>This Application displays the patient Appointment of the Medication-Reminder application from the doctor login where the doctor can view his daily appointments for clarifications. </a:t>
            </a:r>
          </a:p>
          <a:p>
            <a:pPr marL="798195" lvl="1" indent="-340995" algn="just">
              <a:buFont typeface="Wingdings" pitchFamily="2" charset="2"/>
              <a:buChar char="Ø"/>
            </a:pPr>
            <a:endParaRPr lang="en-US" sz="2190" b="1" i="0" u="none" strike="noStrike" dirty="0">
              <a:solidFill>
                <a:srgbClr val="00000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798195" lvl="1" indent="-340995" algn="just">
              <a:buFont typeface="Wingdings" pitchFamily="2" charset="2"/>
              <a:buChar char="Ø"/>
            </a:pPr>
            <a:r>
              <a:rPr lang="en-US" sz="2190" b="1" dirty="0">
                <a:latin typeface="Times New Roman" pitchFamily="18" charset="0"/>
                <a:cs typeface="Times New Roman" pitchFamily="18" charset="0"/>
              </a:rPr>
              <a:t>Highlight the significant role that ratings serve in providing objective feedback on the overall application experience, satisfaction, and usability.</a:t>
            </a:r>
          </a:p>
          <a:p>
            <a:pPr marL="798195" lvl="1" indent="-340995" algn="just">
              <a:buFont typeface="Wingdings" pitchFamily="2" charset="2"/>
              <a:buChar char="Ø"/>
            </a:pPr>
            <a:endParaRPr lang="en-IN" sz="2190" b="1" dirty="0">
              <a:latin typeface="Times New Roman" pitchFamily="18" charset="0"/>
              <a:cs typeface="Times New Roman" pitchFamily="18" charset="0"/>
            </a:endParaRPr>
          </a:p>
          <a:p>
            <a:pPr marL="798195" lvl="1" indent="-340995" algn="just">
              <a:buFont typeface="Wingdings" pitchFamily="2" charset="2"/>
              <a:buChar char="Ø"/>
            </a:pPr>
            <a:r>
              <a:rPr lang="en-US" sz="2190" b="1" dirty="0">
                <a:latin typeface="Times New Roman" pitchFamily="18" charset="0"/>
                <a:cs typeface="Times New Roman" pitchFamily="18" charset="0"/>
              </a:rPr>
              <a:t>Clearly outlining the objective of the study, which is to enhance the Medication-Reminder's user-centered quality by identifying areas for user experience improvement and measuring user satisfaction using quantitative ratings</a:t>
            </a:r>
            <a:r>
              <a:rPr lang="en-US" sz="2400" dirty="0"/>
              <a:t>. </a:t>
            </a:r>
            <a:br>
              <a:rPr lang="en-US" sz="2400" dirty="0"/>
            </a:br>
            <a:endParaRPr lang="en-US" altLang="en-IN" sz="219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8195" lvl="1" indent="-340995" algn="just">
              <a:buFont typeface="Wingdings" pitchFamily="2" charset="2"/>
              <a:buChar char="Ø"/>
            </a:pPr>
            <a:r>
              <a:rPr lang="en-US" sz="2190" b="1" dirty="0">
                <a:latin typeface="Times New Roman" pitchFamily="18" charset="0"/>
                <a:cs typeface="Times New Roman" pitchFamily="18" charset="0"/>
              </a:rPr>
              <a:t>The study's findings might improve the Medication-Reminder user experience, which would widen the educational and career-growth options available to medical professionals.</a:t>
            </a:r>
          </a:p>
          <a:p>
            <a:pPr marL="798195" lvl="1" indent="-340995" algn="just">
              <a:buFont typeface="Wingdings" pitchFamily="2" charset="2"/>
              <a:buChar char="Ø"/>
            </a:pPr>
            <a:endParaRPr lang="en-US" altLang="en-IN" sz="2190" b="1" dirty="0">
              <a:latin typeface="Times New Roman" pitchFamily="18" charset="0"/>
              <a:cs typeface="Times New Roman" pitchFamily="18" charset="0"/>
            </a:endParaRPr>
          </a:p>
          <a:p>
            <a:pPr marL="798195" lvl="1" indent="-340995" algn="just">
              <a:buFont typeface="Wingdings" pitchFamily="2" charset="2"/>
              <a:buChar char="Ø"/>
            </a:pPr>
            <a:r>
              <a:rPr lang="en-US" sz="2190" b="1" dirty="0">
                <a:latin typeface="Times New Roman" pitchFamily="18" charset="0"/>
                <a:cs typeface="Times New Roman" pitchFamily="18" charset="0"/>
              </a:rPr>
              <a:t>A user-friendly interface, clear appointment notifications, and intuitive features can empower patients to actively engage with their healthcare management, leading to better treatment outcomes and overall health.</a:t>
            </a:r>
            <a:endParaRPr lang="en-US" altLang="en-IN" sz="219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384372" y="10973564"/>
            <a:ext cx="12078470" cy="396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99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-1" y="22684212"/>
            <a:ext cx="21599525" cy="481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0995" indent="-340995" algn="just">
              <a:buFont typeface="Wingdings" panose="05000000000000000000" pitchFamily="2" charset="2"/>
              <a:buChar char="Ø"/>
            </a:pPr>
            <a:endParaRPr lang="en-US" altLang="en-IN" sz="219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8195" lvl="1" indent="-340995" algn="just">
              <a:buFont typeface="Wingdings" pitchFamily="2" charset="2"/>
              <a:buChar char="Ø"/>
            </a:pPr>
            <a:r>
              <a:rPr lang="en-US" altLang="en-IN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 T-test Statistical analysis, the significance value of  p=0.01 (independent sample T - test p&lt;0.05) is obtained and shows that there is a statistical significant difference between the group 1 and group 2.</a:t>
            </a:r>
          </a:p>
          <a:p>
            <a:pPr marL="798195" lvl="1" indent="-340995" algn="just">
              <a:buFont typeface="Wingdings" pitchFamily="2" charset="2"/>
              <a:buChar char="Ø"/>
            </a:pPr>
            <a:endParaRPr lang="en-US" altLang="en-IN" sz="219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8195" lvl="1" indent="-340995" algn="just">
              <a:buFont typeface="Wingdings" pitchFamily="2" charset="2"/>
              <a:buChar char="Ø"/>
            </a:pPr>
            <a:r>
              <a:rPr lang="en-US" altLang="en-IN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Response time of the</a:t>
            </a:r>
            <a:r>
              <a:rPr lang="en-IN" altLang="en-US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219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Medication-Reminder iOS </a:t>
            </a:r>
            <a:r>
              <a:rPr lang="en-US" altLang="en-IN" sz="219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Application</a:t>
            </a:r>
            <a:r>
              <a:rPr lang="en-IN" altLang="en-US" sz="219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IN" sz="219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is </a:t>
            </a:r>
            <a:r>
              <a:rPr lang="en-IN" altLang="en-IN" sz="219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89.71ms </a:t>
            </a:r>
            <a:r>
              <a:rPr lang="en-US" altLang="en-IN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it is better than the</a:t>
            </a:r>
            <a:r>
              <a:rPr lang="en-IN" altLang="en-US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9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Android</a:t>
            </a:r>
            <a:r>
              <a:rPr lang="en-IN" altLang="en-US" sz="219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IN" sz="219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Application</a:t>
            </a:r>
            <a:r>
              <a:rPr lang="en-US" altLang="en-IN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>
              <a:buFont typeface="Wingdings" pitchFamily="2" charset="2"/>
              <a:buChar char="Ø"/>
            </a:pPr>
            <a:endParaRPr lang="en-US" altLang="en-IN" sz="219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8195" lvl="1" indent="-340995" algn="just">
              <a:buFont typeface="Wingdings" pitchFamily="2" charset="2"/>
              <a:buChar char="Ø"/>
            </a:pPr>
            <a:r>
              <a:rPr lang="en-US" altLang="en-US" sz="219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Medication-Reminder </a:t>
            </a:r>
            <a:r>
              <a:rPr lang="en-US" sz="219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Android</a:t>
            </a:r>
            <a:r>
              <a:rPr lang="en-IN" altLang="en-US" sz="219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IN" sz="219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Application is </a:t>
            </a:r>
            <a:r>
              <a:rPr lang="en-IN" altLang="en-US" sz="219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79.67</a:t>
            </a:r>
            <a:r>
              <a:rPr lang="en-US" altLang="en-IN" sz="219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ms</a:t>
            </a:r>
          </a:p>
          <a:p>
            <a:pPr lvl="1" algn="just">
              <a:buFont typeface="Wingdings" pitchFamily="2" charset="2"/>
              <a:buChar char="Ø"/>
            </a:pPr>
            <a:endParaRPr lang="en-IN" altLang="en-US" sz="219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8195" lvl="1" indent="-340995" algn="just">
              <a:buFont typeface="Wingdings" pitchFamily="2" charset="2"/>
              <a:buChar char="Ø"/>
            </a:pPr>
            <a:r>
              <a:rPr lang="en-US" altLang="en-IN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research results clearly show that when it comes to grading accuracy efficiency inside the Medication-Reminder the iOS application performs better than the Android application.</a:t>
            </a:r>
          </a:p>
          <a:p>
            <a:pPr marL="798195" lvl="1" indent="-340995" algn="just">
              <a:buFont typeface="Wingdings" pitchFamily="2" charset="2"/>
              <a:buChar char="Ø"/>
            </a:pPr>
            <a:endParaRPr lang="en-US" altLang="en-IN" sz="219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8195" lvl="1" indent="-340995" algn="just">
              <a:buFont typeface="Wingdings" pitchFamily="2" charset="2"/>
              <a:buChar char="Ø"/>
            </a:pPr>
            <a:r>
              <a:rPr lang="en-US" altLang="en-IN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suggests that only does the iOS application exhibit superior response time and grading accuracy efficiency, nut it also tends to provide a more satisfactory user experience overall. This aspect could be crucial in determining the overall success and adoption rate of the application among users.</a:t>
            </a:r>
          </a:p>
          <a:p>
            <a:pPr marL="340995" indent="-340995">
              <a:buFont typeface="Wingdings" panose="05000000000000000000" pitchFamily="2" charset="2"/>
              <a:buChar char="Ø"/>
            </a:pPr>
            <a:endParaRPr lang="en-US" altLang="en-IN" sz="219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0" y="28521906"/>
            <a:ext cx="21275040" cy="3799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8195" lvl="1" indent="-340995" algn="just">
              <a:buFont typeface="Wingdings" pitchFamily="2" charset="2"/>
              <a:buChar char="Ø"/>
            </a:pPr>
            <a:r>
              <a:rPr lang="en-US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Anderson, Kevin, Oksana Burford, and Lynne Emmerton. 2016. “App Chronic Disease Checklist: Protocol to Evaluate Mobile Apps for Chronic Disease Self-Management.” JMIR Research Protocols 5 (4): e6194.</a:t>
            </a:r>
          </a:p>
          <a:p>
            <a:pPr lvl="1" algn="just">
              <a:buFont typeface="Wingdings" pitchFamily="2" charset="2"/>
              <a:buChar char="Ø"/>
            </a:pPr>
            <a:endParaRPr lang="en-IN" sz="219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8195" lvl="1" indent="-340995" algn="just">
              <a:buFont typeface="Wingdings" pitchFamily="2" charset="2"/>
              <a:buChar char="Ø"/>
            </a:pPr>
            <a:r>
              <a:rPr lang="en-US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Grayek, Emily, Tamar Krishnamurti, Lydia Hu, Olivia Babich, Katherine Warren, and Baruch Fischhoff. 2023. “Collection and Analysis of Adherence Information for Software as a Medical Device Clinical Trials: Systematic Review.” JMIR mHealth and uHealth 11 (1): e46237.</a:t>
            </a:r>
          </a:p>
          <a:p>
            <a:pPr lvl="1" algn="just">
              <a:buFont typeface="Wingdings" pitchFamily="2" charset="2"/>
              <a:buChar char="Ø"/>
            </a:pPr>
            <a:endParaRPr lang="en-IN" sz="219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8195" lvl="1" indent="-340995" algn="just">
              <a:buFont typeface="Wingdings" pitchFamily="2" charset="2"/>
              <a:buChar char="Ø"/>
            </a:pPr>
            <a:r>
              <a:rPr lang="en-US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Salgado, Teresa M., Alexa Fedrigon, Donna Riccio Omichinski, Michelle A. Meade, and Karen B. Farris. 2018. “Identifying Medication Management Smartphone App Features Suitable for Young Adults With Developmental Disabilities: Delphi Consensus Study.” JMIR mHealth and uHealth 6 (5): e9527.</a:t>
            </a:r>
          </a:p>
          <a:p>
            <a:pPr marL="798195" lvl="1" indent="-340995" algn="just">
              <a:buFont typeface="Wingdings" pitchFamily="2" charset="2"/>
              <a:buChar char="Ø"/>
            </a:pPr>
            <a:endParaRPr lang="en-IN" sz="219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8195" lvl="1" indent="-340995" algn="just">
              <a:buFont typeface="Wingdings" pitchFamily="2" charset="2"/>
              <a:buChar char="Ø"/>
            </a:pPr>
            <a:r>
              <a:rPr lang="en-IN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Tabi, Katarina, Abnashi Singh Randhawa, Fiona Choi, Zamina Mithani, Friederike Albers, Maren Schnieder, Mohammadali Nikoo, et al. 2019. “Mobile Apps for Medication Management: Review and Analysis.” JMIR mHealth and uHealth 7 (9): e13608.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5921132" y="24475579"/>
            <a:ext cx="15955024" cy="366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790" dirty="0"/>
          </a:p>
        </p:txBody>
      </p:sp>
      <p:sp>
        <p:nvSpPr>
          <p:cNvPr id="41" name="Text Box 40"/>
          <p:cNvSpPr txBox="1"/>
          <p:nvPr/>
        </p:nvSpPr>
        <p:spPr>
          <a:xfrm>
            <a:off x="16733520" y="8991600"/>
            <a:ext cx="3916680" cy="766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</a:t>
            </a:r>
          </a:p>
          <a:p>
            <a:pPr algn="ctr"/>
            <a:r>
              <a:rPr lang="en-US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1:Medication-Reminder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106" y="-50532"/>
            <a:ext cx="21571523" cy="2569325"/>
          </a:xfrm>
          <a:prstGeom prst="rect">
            <a:avLst/>
          </a:prstGeom>
          <a:solidFill>
            <a:srgbClr val="828282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13" y="-8622"/>
            <a:ext cx="20939802" cy="2432309"/>
          </a:xfrm>
          <a:prstGeom prst="rect">
            <a:avLst/>
          </a:prstGeom>
        </p:spPr>
      </p:pic>
      <p:sp>
        <p:nvSpPr>
          <p:cNvPr id="50" name="Text Box 41"/>
          <p:cNvSpPr txBox="1"/>
          <p:nvPr/>
        </p:nvSpPr>
        <p:spPr>
          <a:xfrm>
            <a:off x="15639940" y="1419256"/>
            <a:ext cx="5569043" cy="1102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19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Ms  Nisha N</a:t>
            </a:r>
            <a:br>
              <a:rPr lang="en-US" sz="219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19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 Number: 192011495L</a:t>
            </a:r>
          </a:p>
          <a:p>
            <a:pPr algn="r"/>
            <a:r>
              <a:rPr lang="en-US" sz="219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 Dr T Suresh Balakrishnan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="" xmlns:a16="http://schemas.microsoft.com/office/drawing/2014/main" id="{23AFED97-9AB8-64F2-31DC-77ECA5114D4F}"/>
              </a:ext>
            </a:extLst>
          </p:cNvPr>
          <p:cNvSpPr txBox="1"/>
          <p:nvPr/>
        </p:nvSpPr>
        <p:spPr>
          <a:xfrm>
            <a:off x="19329722" y="21124517"/>
            <a:ext cx="2118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Fig 5:Appointment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F67301FF-BA7D-425F-D174-0A1FAD021687}"/>
              </a:ext>
            </a:extLst>
          </p:cNvPr>
          <p:cNvSpPr txBox="1"/>
          <p:nvPr/>
        </p:nvSpPr>
        <p:spPr>
          <a:xfrm>
            <a:off x="16111961" y="21153840"/>
            <a:ext cx="281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Fig 4:Doctor Home Screen</a:t>
            </a:r>
          </a:p>
        </p:txBody>
      </p:sp>
      <p:pic>
        <p:nvPicPr>
          <p:cNvPr id="35" name="image3.png"/>
          <p:cNvPicPr/>
          <p:nvPr/>
        </p:nvPicPr>
        <p:blipFill>
          <a:blip r:embed="rId3"/>
          <a:srcRect t="2031" b="2031"/>
          <a:stretch>
            <a:fillRect/>
          </a:stretch>
        </p:blipFill>
        <p:spPr>
          <a:xfrm>
            <a:off x="420842" y="16991965"/>
            <a:ext cx="5731200" cy="3378200"/>
          </a:xfrm>
          <a:prstGeom prst="rect">
            <a:avLst/>
          </a:prstGeom>
          <a:ln/>
        </p:spPr>
      </p:pic>
      <p:pic>
        <p:nvPicPr>
          <p:cNvPr id="1026" name="Picture 2" descr="C:\Users\ICON\Downloads\WhatsApp Image 2024-04-04 at 7.49.34 PM.jpe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390011" y="16230818"/>
            <a:ext cx="2170903" cy="4700197"/>
          </a:xfrm>
          <a:prstGeom prst="rect">
            <a:avLst/>
          </a:prstGeom>
          <a:noFill/>
        </p:spPr>
      </p:pic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23AFED97-9AB8-64F2-31DC-77ECA5114D4F}"/>
              </a:ext>
            </a:extLst>
          </p:cNvPr>
          <p:cNvSpPr txBox="1"/>
          <p:nvPr/>
        </p:nvSpPr>
        <p:spPr>
          <a:xfrm>
            <a:off x="12940495" y="21138857"/>
            <a:ext cx="3311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Fig 3:Appointment Booking</a:t>
            </a:r>
          </a:p>
          <a:p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4" descr="C:\Users\ICON\Downloads\WhatsApp Image 2024-03-18 at 2.13.51 AM.jpe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9237124" y="16248052"/>
            <a:ext cx="2153920" cy="4663426"/>
          </a:xfrm>
          <a:prstGeom prst="rect">
            <a:avLst/>
          </a:prstGeom>
          <a:noFill/>
        </p:spPr>
      </p:pic>
      <p:pic>
        <p:nvPicPr>
          <p:cNvPr id="1029" name="Picture 5" descr="C:\Users\ICON\Downloads\WhatsApp Image 2024-03-22 at 8.51.50 PM.jpe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3415832" y="16238642"/>
            <a:ext cx="2155558" cy="4666973"/>
          </a:xfrm>
          <a:prstGeom prst="rect">
            <a:avLst/>
          </a:prstGeom>
          <a:noFill/>
        </p:spPr>
      </p:pic>
      <p:sp>
        <p:nvSpPr>
          <p:cNvPr id="3" name="AutoShape 2" descr="blob:https://web.whatsapp.com/1c720f9b-83d2-4444-a791-b29fddbe0ce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9" name="Picture 3" descr="C:\Users\ICON\Downloads\WhatsApp Image 2024-04-05 at 8.15.58 PM.jpe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7737138" y="4321175"/>
            <a:ext cx="1709102" cy="1714281"/>
          </a:xfrm>
          <a:prstGeom prst="rect">
            <a:avLst/>
          </a:prstGeom>
          <a:noFill/>
        </p:spPr>
      </p:pic>
      <p:sp>
        <p:nvSpPr>
          <p:cNvPr id="48" name="Text Box 40"/>
          <p:cNvSpPr txBox="1"/>
          <p:nvPr/>
        </p:nvSpPr>
        <p:spPr>
          <a:xfrm>
            <a:off x="17541240" y="5715000"/>
            <a:ext cx="2316480" cy="766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</a:t>
            </a:r>
          </a:p>
          <a:p>
            <a:pPr algn="ctr"/>
            <a:r>
              <a:rPr lang="en-US" sz="2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Medtime</a:t>
            </a:r>
          </a:p>
        </p:txBody>
      </p:sp>
      <p:sp>
        <p:nvSpPr>
          <p:cNvPr id="52" name="Folded Corner 51"/>
          <p:cNvSpPr/>
          <p:nvPr/>
        </p:nvSpPr>
        <p:spPr>
          <a:xfrm>
            <a:off x="17145000" y="6720840"/>
            <a:ext cx="2971800" cy="2301240"/>
          </a:xfrm>
          <a:prstGeom prst="foldedCorne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Wingdings" pitchFamily="2" charset="2"/>
              <a:buChar char="q"/>
            </a:pPr>
            <a:endParaRPr lang="en-US" dirty="0"/>
          </a:p>
          <a:p>
            <a:pPr marL="342900" indent="-342900">
              <a:buFont typeface="Wingdings" pitchFamily="2" charset="2"/>
              <a:buChar char="q"/>
            </a:pPr>
            <a:r>
              <a:rPr lang="en-US" dirty="0"/>
              <a:t>Response Time</a:t>
            </a:r>
          </a:p>
          <a:p>
            <a:pPr marL="342900" indent="-342900"/>
            <a:endParaRPr lang="en-US" dirty="0"/>
          </a:p>
          <a:p>
            <a:pPr marL="342900" indent="-342900">
              <a:buFont typeface="Wingdings" pitchFamily="2" charset="2"/>
              <a:buChar char="q"/>
            </a:pPr>
            <a:r>
              <a:rPr lang="en-US" dirty="0"/>
              <a:t>Data Utilizattion</a:t>
            </a:r>
          </a:p>
          <a:p>
            <a:pPr marL="342900" indent="-342900"/>
            <a:endParaRPr lang="en-US" dirty="0"/>
          </a:p>
          <a:p>
            <a:pPr marL="342900" indent="-342900">
              <a:buFont typeface="Wingdings" pitchFamily="2" charset="2"/>
              <a:buChar char="q"/>
            </a:pPr>
            <a:r>
              <a:rPr lang="en-US" dirty="0"/>
              <a:t>Development Time</a:t>
            </a:r>
          </a:p>
          <a:p>
            <a:pPr marL="342900" indent="-342900"/>
            <a:endParaRPr lang="en-US" dirty="0"/>
          </a:p>
          <a:p>
            <a:pPr marL="342900" indent="-342900">
              <a:buFont typeface="Wingdings" pitchFamily="2" charset="2"/>
              <a:buChar char="q"/>
            </a:pPr>
            <a:r>
              <a:rPr lang="en-US" dirty="0"/>
              <a:t>Rating Accuracy</a:t>
            </a:r>
          </a:p>
        </p:txBody>
      </p:sp>
      <p:sp>
        <p:nvSpPr>
          <p:cNvPr id="57" name="Curved Left Arrow 56"/>
          <p:cNvSpPr/>
          <p:nvPr/>
        </p:nvSpPr>
        <p:spPr>
          <a:xfrm>
            <a:off x="20269200" y="5562600"/>
            <a:ext cx="1127760" cy="160020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8" name="Curved Right Arrow 57"/>
          <p:cNvSpPr/>
          <p:nvPr/>
        </p:nvSpPr>
        <p:spPr>
          <a:xfrm>
            <a:off x="15727680" y="5715000"/>
            <a:ext cx="1234440" cy="15240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43" name="Group 42"/>
          <p:cNvGrpSpPr/>
          <p:nvPr/>
        </p:nvGrpSpPr>
        <p:grpSpPr>
          <a:xfrm>
            <a:off x="0" y="9942049"/>
            <a:ext cx="21599525" cy="5796133"/>
            <a:chOff x="0" y="9942049"/>
            <a:chExt cx="21599525" cy="5796133"/>
          </a:xfrm>
        </p:grpSpPr>
        <p:sp>
          <p:nvSpPr>
            <p:cNvPr id="44" name="Rectangle 43"/>
            <p:cNvSpPr/>
            <p:nvPr/>
          </p:nvSpPr>
          <p:spPr>
            <a:xfrm>
              <a:off x="0" y="9942049"/>
              <a:ext cx="21599525" cy="5796133"/>
            </a:xfrm>
            <a:prstGeom prst="rect">
              <a:avLst/>
            </a:prstGeom>
            <a:solidFill>
              <a:srgbClr val="BFE7FF"/>
            </a:solidFill>
            <a:ln>
              <a:solidFill>
                <a:schemeClr val="accent1"/>
              </a:solidFill>
              <a:prstDash val="soli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790" dirty="0"/>
            </a:p>
          </p:txBody>
        </p:sp>
        <p:grpSp>
          <p:nvGrpSpPr>
            <p:cNvPr id="45" name="Group 62"/>
            <p:cNvGrpSpPr/>
            <p:nvPr/>
          </p:nvGrpSpPr>
          <p:grpSpPr>
            <a:xfrm>
              <a:off x="182881" y="11948160"/>
              <a:ext cx="2926080" cy="2423160"/>
              <a:chOff x="624840" y="11628120"/>
              <a:chExt cx="3230880" cy="2621280"/>
            </a:xfrm>
          </p:grpSpPr>
          <p:sp>
            <p:nvSpPr>
              <p:cNvPr id="74" name="Rectangle 73"/>
              <p:cNvSpPr/>
              <p:nvPr/>
            </p:nvSpPr>
            <p:spPr>
              <a:xfrm>
                <a:off x="624840" y="11628120"/>
                <a:ext cx="3230880" cy="2621280"/>
              </a:xfrm>
              <a:prstGeom prst="rect">
                <a:avLst/>
              </a:prstGeom>
              <a:noFill/>
              <a:ln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5" name="TextBox 74"/>
              <p:cNvSpPr txBox="1"/>
              <p:nvPr/>
            </p:nvSpPr>
            <p:spPr>
              <a:xfrm>
                <a:off x="640080" y="12298680"/>
                <a:ext cx="3215640" cy="15981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 Collection</a:t>
                </a:r>
                <a:b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Processing and measuring </a:t>
                </a:r>
                <a:b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data  of sample size of </a:t>
                </a:r>
                <a:b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= 10, N = 10</a:t>
                </a:r>
                <a:b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= 20</a:t>
                </a:r>
              </a:p>
            </p:txBody>
          </p:sp>
        </p:grpSp>
        <p:sp>
          <p:nvSpPr>
            <p:cNvPr id="46" name="Right Arrow 45"/>
            <p:cNvSpPr/>
            <p:nvPr/>
          </p:nvSpPr>
          <p:spPr>
            <a:xfrm>
              <a:off x="3246120" y="12938760"/>
              <a:ext cx="838200" cy="24384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Up Arrow 46"/>
            <p:cNvSpPr/>
            <p:nvPr/>
          </p:nvSpPr>
          <p:spPr>
            <a:xfrm>
              <a:off x="5445760" y="11993880"/>
              <a:ext cx="304800" cy="259080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Down Arrow 50"/>
            <p:cNvSpPr/>
            <p:nvPr/>
          </p:nvSpPr>
          <p:spPr>
            <a:xfrm>
              <a:off x="5461000" y="14178280"/>
              <a:ext cx="274320" cy="28956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Flowchart: Terminator 52">
              <a:extLst>
                <a:ext uri="{FF2B5EF4-FFF2-40B4-BE49-F238E27FC236}">
                  <a16:creationId xmlns="" xmlns:a16="http://schemas.microsoft.com/office/drawing/2014/main" id="{90C18176-DB2D-8A7C-EC80-4700A3A3CEBC}"/>
                </a:ext>
              </a:extLst>
            </p:cNvPr>
            <p:cNvSpPr/>
            <p:nvPr/>
          </p:nvSpPr>
          <p:spPr>
            <a:xfrm>
              <a:off x="4101942" y="10952444"/>
              <a:ext cx="3055778" cy="947642"/>
            </a:xfrm>
            <a:prstGeom prst="flowChartTerminator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Android</a:t>
              </a:r>
              <a:br>
                <a:rPr lang="en-I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I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Application</a:t>
              </a:r>
            </a:p>
          </p:txBody>
        </p:sp>
        <p:sp>
          <p:nvSpPr>
            <p:cNvPr id="54" name="Flowchart: Terminator 53">
              <a:extLst>
                <a:ext uri="{FF2B5EF4-FFF2-40B4-BE49-F238E27FC236}">
                  <a16:creationId xmlns="" xmlns:a16="http://schemas.microsoft.com/office/drawing/2014/main" id="{FF0E4F9A-29F0-45B3-435D-6AD8322398ED}"/>
                </a:ext>
              </a:extLst>
            </p:cNvPr>
            <p:cNvSpPr/>
            <p:nvPr/>
          </p:nvSpPr>
          <p:spPr>
            <a:xfrm>
              <a:off x="4040556" y="14565109"/>
              <a:ext cx="3152724" cy="833881"/>
            </a:xfrm>
            <a:prstGeom prst="flowChartTerminator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IOS</a:t>
              </a:r>
              <a:br>
                <a:rPr lang="en-I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I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Application</a:t>
              </a:r>
            </a:p>
          </p:txBody>
        </p:sp>
        <p:sp>
          <p:nvSpPr>
            <p:cNvPr id="55" name="Flowchart: Process 54">
              <a:extLst>
                <a:ext uri="{FF2B5EF4-FFF2-40B4-BE49-F238E27FC236}">
                  <a16:creationId xmlns="" xmlns:a16="http://schemas.microsoft.com/office/drawing/2014/main" id="{F20469D1-FF1C-91EB-CCC8-EAE25FEFA3D3}"/>
                </a:ext>
              </a:extLst>
            </p:cNvPr>
            <p:cNvSpPr/>
            <p:nvPr/>
          </p:nvSpPr>
          <p:spPr>
            <a:xfrm>
              <a:off x="4230513" y="12337960"/>
              <a:ext cx="2779887" cy="1733640"/>
            </a:xfrm>
            <a:prstGeom prst="flowChartProcess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Choose Application</a:t>
              </a:r>
            </a:p>
            <a:p>
              <a:pPr>
                <a:buFont typeface="Wingdings" pitchFamily="2" charset="2"/>
                <a:buChar char="Ø"/>
              </a:pPr>
              <a:r>
                <a:rPr lang="en-IN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Strategy</a:t>
              </a:r>
            </a:p>
            <a:p>
              <a:pPr>
                <a:buFont typeface="Wingdings" pitchFamily="2" charset="2"/>
                <a:buChar char="Ø"/>
              </a:pPr>
              <a:r>
                <a:rPr lang="en-IN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Analysis &amp; Planning.</a:t>
              </a:r>
            </a:p>
            <a:p>
              <a:pPr>
                <a:buFont typeface="Wingdings" pitchFamily="2" charset="2"/>
                <a:buChar char="Ø"/>
              </a:pPr>
              <a:r>
                <a:rPr lang="en-IN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UI/UX Design.</a:t>
              </a:r>
            </a:p>
            <a:p>
              <a:pPr>
                <a:buFont typeface="Wingdings" pitchFamily="2" charset="2"/>
                <a:buChar char="Ø"/>
              </a:pPr>
              <a:r>
                <a:rPr lang="en-IN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App Development.</a:t>
              </a:r>
            </a:p>
            <a:p>
              <a:pPr>
                <a:buFont typeface="Wingdings" pitchFamily="2" charset="2"/>
                <a:buChar char="Ø"/>
              </a:pPr>
              <a:r>
                <a:rPr lang="en-IN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Testing.</a:t>
              </a:r>
            </a:p>
            <a:p>
              <a:pPr>
                <a:buFont typeface="Wingdings" pitchFamily="2" charset="2"/>
                <a:buChar char="Ø"/>
              </a:pPr>
              <a:r>
                <a:rPr lang="en-IN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Deployment &amp; Support.</a:t>
              </a:r>
            </a:p>
          </p:txBody>
        </p:sp>
        <p:sp>
          <p:nvSpPr>
            <p:cNvPr id="56" name="Flowchart: Process 55">
              <a:extLst>
                <a:ext uri="{FF2B5EF4-FFF2-40B4-BE49-F238E27FC236}">
                  <a16:creationId xmlns="" xmlns:a16="http://schemas.microsoft.com/office/drawing/2014/main" id="{F20469D1-FF1C-91EB-CCC8-EAE25FEFA3D3}"/>
                </a:ext>
              </a:extLst>
            </p:cNvPr>
            <p:cNvSpPr/>
            <p:nvPr/>
          </p:nvSpPr>
          <p:spPr>
            <a:xfrm>
              <a:off x="7700152" y="10972801"/>
              <a:ext cx="3211688" cy="1727200"/>
            </a:xfrm>
            <a:prstGeom prst="flowChartProcess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I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Android Application Process</a:t>
              </a:r>
            </a:p>
            <a:p>
              <a:pPr marL="342900" indent="-342900" algn="ctr"/>
              <a:endPara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buFont typeface="Wingdings" pitchFamily="2" charset="2"/>
                <a:buChar char="Ø"/>
              </a:pPr>
              <a:r>
                <a:rPr lang="en-IN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Database – XAMPP(MySQL)</a:t>
              </a:r>
            </a:p>
            <a:p>
              <a:pPr>
                <a:buFont typeface="Wingdings" pitchFamily="2" charset="2"/>
                <a:buChar char="Ø"/>
              </a:pPr>
              <a:r>
                <a:rPr lang="en-IN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PHP- Visual Studio code.</a:t>
              </a:r>
            </a:p>
            <a:p>
              <a:pPr>
                <a:buFont typeface="Wingdings" pitchFamily="2" charset="2"/>
                <a:buChar char="Ø"/>
              </a:pPr>
              <a:r>
                <a:rPr lang="en-IN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Testing- Postman</a:t>
              </a:r>
            </a:p>
            <a:p>
              <a:pPr>
                <a:buFont typeface="Wingdings" pitchFamily="2" charset="2"/>
                <a:buChar char="Ø"/>
              </a:pPr>
              <a:r>
                <a:rPr lang="en-IN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Output- Android Studio</a:t>
              </a:r>
            </a:p>
            <a:p>
              <a:pPr algn="ctr">
                <a:buFont typeface="Wingdings" pitchFamily="2" charset="2"/>
                <a:buChar char="q"/>
              </a:pPr>
              <a:endPara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Flowchart: Process 58">
              <a:extLst>
                <a:ext uri="{FF2B5EF4-FFF2-40B4-BE49-F238E27FC236}">
                  <a16:creationId xmlns="" xmlns:a16="http://schemas.microsoft.com/office/drawing/2014/main" id="{F20469D1-FF1C-91EB-CCC8-EAE25FEFA3D3}"/>
                </a:ext>
              </a:extLst>
            </p:cNvPr>
            <p:cNvSpPr/>
            <p:nvPr/>
          </p:nvSpPr>
          <p:spPr>
            <a:xfrm>
              <a:off x="7740792" y="13736321"/>
              <a:ext cx="3211688" cy="1727200"/>
            </a:xfrm>
            <a:prstGeom prst="flowChartProcess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I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iOS Application Process</a:t>
              </a:r>
            </a:p>
            <a:p>
              <a:pPr marL="342900" indent="-342900" algn="ctr"/>
              <a:endPara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buFont typeface="Wingdings" pitchFamily="2" charset="2"/>
                <a:buChar char="Ø"/>
              </a:pPr>
              <a:r>
                <a:rPr lang="en-IN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Database – XAMPP(MySQL)</a:t>
              </a:r>
            </a:p>
            <a:p>
              <a:pPr>
                <a:buFont typeface="Wingdings" pitchFamily="2" charset="2"/>
                <a:buChar char="Ø"/>
              </a:pPr>
              <a:r>
                <a:rPr lang="en-IN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PHP- Visual Studio code.</a:t>
              </a:r>
            </a:p>
            <a:p>
              <a:pPr>
                <a:buFont typeface="Wingdings" pitchFamily="2" charset="2"/>
                <a:buChar char="Ø"/>
              </a:pPr>
              <a:r>
                <a:rPr lang="en-IN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Testing- Postman</a:t>
              </a:r>
            </a:p>
            <a:p>
              <a:pPr>
                <a:buFont typeface="Wingdings" pitchFamily="2" charset="2"/>
                <a:buChar char="Ø"/>
              </a:pPr>
              <a:r>
                <a:rPr lang="en-IN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Output- Swift Xcode</a:t>
              </a:r>
            </a:p>
            <a:p>
              <a:pPr algn="ctr">
                <a:buFont typeface="Wingdings" pitchFamily="2" charset="2"/>
                <a:buChar char="q"/>
              </a:pPr>
              <a:endPara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Right Arrow 59"/>
            <p:cNvSpPr/>
            <p:nvPr/>
          </p:nvSpPr>
          <p:spPr>
            <a:xfrm>
              <a:off x="7294880" y="11328400"/>
              <a:ext cx="335280" cy="23368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Flowchart: Process 60">
              <a:extLst>
                <a:ext uri="{FF2B5EF4-FFF2-40B4-BE49-F238E27FC236}">
                  <a16:creationId xmlns="" xmlns:a16="http://schemas.microsoft.com/office/drawing/2014/main" id="{B4B23B58-2355-33FA-FF67-961ADA84137E}"/>
                </a:ext>
              </a:extLst>
            </p:cNvPr>
            <p:cNvSpPr/>
            <p:nvPr/>
          </p:nvSpPr>
          <p:spPr>
            <a:xfrm>
              <a:off x="11607150" y="13644879"/>
              <a:ext cx="2403490" cy="1798321"/>
            </a:xfrm>
            <a:prstGeom prst="flowChartProcess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User inputs</a:t>
              </a:r>
              <a:br>
                <a:rPr lang="en-I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I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(GET/POST)</a:t>
              </a:r>
              <a:br>
                <a:rPr lang="en-I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I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for Structure Model &amp;</a:t>
              </a:r>
            </a:p>
            <a:p>
              <a:pPr algn="ctr"/>
              <a:r>
                <a:rPr lang="en-I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backend connection</a:t>
              </a:r>
            </a:p>
          </p:txBody>
        </p:sp>
        <p:sp>
          <p:nvSpPr>
            <p:cNvPr id="62" name="Right Arrow 61"/>
            <p:cNvSpPr/>
            <p:nvPr/>
          </p:nvSpPr>
          <p:spPr>
            <a:xfrm>
              <a:off x="11094720" y="14742160"/>
              <a:ext cx="335280" cy="23368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Right Arrow 62"/>
            <p:cNvSpPr/>
            <p:nvPr/>
          </p:nvSpPr>
          <p:spPr>
            <a:xfrm>
              <a:off x="11043920" y="11308080"/>
              <a:ext cx="335280" cy="23368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Flowchart: Process 63">
              <a:extLst>
                <a:ext uri="{FF2B5EF4-FFF2-40B4-BE49-F238E27FC236}">
                  <a16:creationId xmlns="" xmlns:a16="http://schemas.microsoft.com/office/drawing/2014/main" id="{B4B23B58-2355-33FA-FF67-961ADA84137E}"/>
                </a:ext>
              </a:extLst>
            </p:cNvPr>
            <p:cNvSpPr/>
            <p:nvPr/>
          </p:nvSpPr>
          <p:spPr>
            <a:xfrm>
              <a:off x="11525870" y="10921999"/>
              <a:ext cx="2403490" cy="1798321"/>
            </a:xfrm>
            <a:prstGeom prst="flowChartProcess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Creating </a:t>
              </a:r>
              <a:br>
                <a:rPr lang="en-I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I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URL for backend </a:t>
              </a:r>
              <a:br>
                <a:rPr lang="en-I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I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connection with database</a:t>
              </a:r>
            </a:p>
          </p:txBody>
        </p:sp>
        <p:sp>
          <p:nvSpPr>
            <p:cNvPr id="65" name="Flowchart: Magnetic Disk 64"/>
            <p:cNvSpPr/>
            <p:nvPr/>
          </p:nvSpPr>
          <p:spPr>
            <a:xfrm>
              <a:off x="15075255" y="11779362"/>
              <a:ext cx="2141317" cy="2430684"/>
            </a:xfrm>
            <a:prstGeom prst="flowChartMagneticDisk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Develop and Test the Data</a:t>
              </a:r>
            </a:p>
          </p:txBody>
        </p:sp>
        <p:cxnSp>
          <p:nvCxnSpPr>
            <p:cNvPr id="66" name="Curved Connector 65"/>
            <p:cNvCxnSpPr/>
            <p:nvPr/>
          </p:nvCxnSpPr>
          <p:spPr>
            <a:xfrm>
              <a:off x="13970643" y="11875625"/>
              <a:ext cx="879676" cy="590309"/>
            </a:xfrm>
            <a:prstGeom prst="curvedConnector3">
              <a:avLst>
                <a:gd name="adj1" fmla="val 50000"/>
              </a:avLst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urved Connector 66"/>
            <p:cNvCxnSpPr/>
            <p:nvPr/>
          </p:nvCxnSpPr>
          <p:spPr>
            <a:xfrm flipV="1">
              <a:off x="14086390" y="13519230"/>
              <a:ext cx="775504" cy="694481"/>
            </a:xfrm>
            <a:prstGeom prst="curvedConnector3">
              <a:avLst>
                <a:gd name="adj1" fmla="val 50000"/>
              </a:avLst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Flowchart: Terminator 67">
              <a:extLst>
                <a:ext uri="{FF2B5EF4-FFF2-40B4-BE49-F238E27FC236}">
                  <a16:creationId xmlns="" xmlns:a16="http://schemas.microsoft.com/office/drawing/2014/main" id="{90C18176-DB2D-8A7C-EC80-4700A3A3CEBC}"/>
                </a:ext>
              </a:extLst>
            </p:cNvPr>
            <p:cNvSpPr/>
            <p:nvPr/>
          </p:nvSpPr>
          <p:spPr>
            <a:xfrm>
              <a:off x="14495043" y="10441422"/>
              <a:ext cx="3055778" cy="947642"/>
            </a:xfrm>
            <a:prstGeom prst="flowChartTerminator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Retrieve User Data from the Database</a:t>
              </a:r>
            </a:p>
          </p:txBody>
        </p:sp>
        <p:sp>
          <p:nvSpPr>
            <p:cNvPr id="69" name="Flowchart: Terminator 68">
              <a:extLst>
                <a:ext uri="{FF2B5EF4-FFF2-40B4-BE49-F238E27FC236}">
                  <a16:creationId xmlns="" xmlns:a16="http://schemas.microsoft.com/office/drawing/2014/main" id="{90C18176-DB2D-8A7C-EC80-4700A3A3CEBC}"/>
                </a:ext>
              </a:extLst>
            </p:cNvPr>
            <p:cNvSpPr/>
            <p:nvPr/>
          </p:nvSpPr>
          <p:spPr>
            <a:xfrm>
              <a:off x="14638763" y="14694924"/>
              <a:ext cx="3055778" cy="947642"/>
            </a:xfrm>
            <a:prstGeom prst="flowChartTerminator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Retrieve User Data from the Database</a:t>
              </a:r>
            </a:p>
          </p:txBody>
        </p:sp>
        <p:sp>
          <p:nvSpPr>
            <p:cNvPr id="70" name="Up Arrow 69"/>
            <p:cNvSpPr/>
            <p:nvPr/>
          </p:nvSpPr>
          <p:spPr>
            <a:xfrm>
              <a:off x="15917569" y="11449870"/>
              <a:ext cx="304800" cy="259080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Down Arrow 70"/>
            <p:cNvSpPr/>
            <p:nvPr/>
          </p:nvSpPr>
          <p:spPr>
            <a:xfrm>
              <a:off x="16030616" y="14330681"/>
              <a:ext cx="274320" cy="28956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Flowchart: Process 71">
              <a:extLst>
                <a:ext uri="{FF2B5EF4-FFF2-40B4-BE49-F238E27FC236}">
                  <a16:creationId xmlns="" xmlns:a16="http://schemas.microsoft.com/office/drawing/2014/main" id="{59745CF5-9AE5-6F4E-35A7-E58A50BC38ED}"/>
                </a:ext>
              </a:extLst>
            </p:cNvPr>
            <p:cNvSpPr/>
            <p:nvPr/>
          </p:nvSpPr>
          <p:spPr>
            <a:xfrm>
              <a:off x="18945586" y="11803849"/>
              <a:ext cx="2284246" cy="2211686"/>
            </a:xfrm>
            <a:prstGeom prst="flowChartProcess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Calculating</a:t>
              </a:r>
              <a:br>
                <a:rPr lang="en-I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I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Rating Accuracy</a:t>
              </a:r>
            </a:p>
          </p:txBody>
        </p:sp>
        <p:sp>
          <p:nvSpPr>
            <p:cNvPr id="73" name="Right Arrow 72"/>
            <p:cNvSpPr/>
            <p:nvPr/>
          </p:nvSpPr>
          <p:spPr>
            <a:xfrm>
              <a:off x="17708301" y="12654216"/>
              <a:ext cx="1030147" cy="48613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="" xmlns:a16="http://schemas.microsoft.com/office/drawing/2014/main" id="{23AFED97-9AB8-64F2-31DC-77ECA5114D4F}"/>
              </a:ext>
            </a:extLst>
          </p:cNvPr>
          <p:cNvSpPr txBox="1"/>
          <p:nvPr/>
        </p:nvSpPr>
        <p:spPr>
          <a:xfrm>
            <a:off x="563880" y="20457558"/>
            <a:ext cx="5440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itchFamily="18" charset="0"/>
                <a:cs typeface="Times New Roman" pitchFamily="18" charset="0"/>
              </a:rPr>
              <a:t>Fig 2: Comparision of Andriod and iOS Application in terms of  Rating Accuracy.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="" xmlns:a16="http://schemas.microsoft.com/office/drawing/2014/main" id="{23AFED97-9AB8-64F2-31DC-77ECA5114D4F}"/>
              </a:ext>
            </a:extLst>
          </p:cNvPr>
          <p:cNvSpPr txBox="1"/>
          <p:nvPr/>
        </p:nvSpPr>
        <p:spPr>
          <a:xfrm>
            <a:off x="6378422" y="18901460"/>
            <a:ext cx="6596798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Comparision of Andriod and iOS Application in terms of Rating Accuracy.</a:t>
            </a:r>
          </a:p>
          <a:p>
            <a:pPr algn="just"/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The Mean Recovery Rate of iOS is significantly higher than Android in Medication-Reminder. </a:t>
            </a:r>
          </a:p>
          <a:p>
            <a:pPr algn="just">
              <a:buFont typeface="Wingdings" pitchFamily="2" charset="2"/>
              <a:buChar char="Ø"/>
            </a:pPr>
            <a:endParaRPr lang="en-IN" sz="16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This indicates a higher level of precision and reliability in the ratings provided by the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iOS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application.</a:t>
            </a:r>
          </a:p>
          <a:p>
            <a:pPr algn="just">
              <a:buFont typeface="Wingdings" pitchFamily="2" charset="2"/>
              <a:buChar char="Ø"/>
            </a:pP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which could be attributed to differences in the underlying algorithms </a:t>
            </a:r>
          </a:p>
          <a:p>
            <a:pPr algn="just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or interface design between the two platforms.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IN" b="1" dirty="0">
              <a:latin typeface="Times New Roman" pitchFamily="18" charset="0"/>
              <a:cs typeface="Times New Roman" pitchFamily="18" charset="0"/>
            </a:endParaRPr>
          </a:p>
          <a:p>
            <a:endParaRPr lang="en-IN" b="1" dirty="0">
              <a:latin typeface="Times New Roman" pitchFamily="18" charset="0"/>
              <a:cs typeface="Times New Roman" pitchFamily="18" charset="0"/>
            </a:endParaRPr>
          </a:p>
          <a:p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444731" y="15916913"/>
            <a:ext cx="1804362" cy="55132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85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785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420842" y="4165224"/>
            <a:ext cx="3189012" cy="55132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85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785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420842" y="10082141"/>
            <a:ext cx="5296748" cy="55132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85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 AND METHODS</a:t>
            </a:r>
            <a:endParaRPr lang="en-IN" sz="2785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420842" y="22150448"/>
            <a:ext cx="5803670" cy="55132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85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AND CONCLUSION</a:t>
            </a:r>
            <a:endParaRPr lang="en-IN" sz="2785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420842" y="27478201"/>
            <a:ext cx="3137361" cy="55132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85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lang="en-IN" sz="2785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Right Arrow 84"/>
          <p:cNvSpPr/>
          <p:nvPr/>
        </p:nvSpPr>
        <p:spPr>
          <a:xfrm>
            <a:off x="7282726" y="14853084"/>
            <a:ext cx="335280" cy="2336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76" name="Table 75"/>
          <p:cNvGraphicFramePr>
            <a:graphicFrameLocks noGrp="1"/>
          </p:cNvGraphicFramePr>
          <p:nvPr/>
        </p:nvGraphicFramePr>
        <p:xfrm>
          <a:off x="6499763" y="16607933"/>
          <a:ext cx="6197283" cy="2061845"/>
        </p:xfrm>
        <a:graphic>
          <a:graphicData uri="http://schemas.openxmlformats.org/drawingml/2006/table">
            <a:tbl>
              <a:tblPr/>
              <a:tblGrid>
                <a:gridCol w="133629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8659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3823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03365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05124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05124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412369">
                <a:tc gridSpan="6">
                  <a:txBody>
                    <a:bodyPr/>
                    <a:lstStyle/>
                    <a:p>
                      <a:pPr marL="38100" marR="38100" algn="ctr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Times New Roman"/>
                          <a:ea typeface="Arial"/>
                          <a:cs typeface="Times New Roman"/>
                        </a:rPr>
                        <a:t>Group Statistics</a:t>
                      </a:r>
                      <a:endParaRPr lang="en-US" sz="1400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82473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en-US" sz="1400" b="1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Times New Roman"/>
                          <a:ea typeface="Arial"/>
                          <a:cs typeface="Times New Roman"/>
                        </a:rPr>
                        <a:t>Algorithm</a:t>
                      </a:r>
                      <a:endParaRPr lang="en-US" sz="1400" b="1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Times New Roman"/>
                          <a:ea typeface="Arial"/>
                          <a:cs typeface="Times New Roman"/>
                        </a:rPr>
                        <a:t>N</a:t>
                      </a:r>
                      <a:endParaRPr lang="en-US" sz="1400" b="1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Times New Roman"/>
                          <a:ea typeface="Arial"/>
                          <a:cs typeface="Times New Roman"/>
                        </a:rPr>
                        <a:t>Mean</a:t>
                      </a:r>
                      <a:endParaRPr lang="en-US" sz="1400" b="1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Times New Roman"/>
                          <a:ea typeface="Arial"/>
                          <a:cs typeface="Times New Roman"/>
                        </a:rPr>
                        <a:t>Std. Deviation</a:t>
                      </a:r>
                      <a:endParaRPr lang="en-US" sz="1400" b="1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Times New Roman"/>
                          <a:ea typeface="Arial"/>
                          <a:cs typeface="Times New Roman"/>
                        </a:rPr>
                        <a:t>Std. Error Mean</a:t>
                      </a:r>
                      <a:endParaRPr lang="en-US" sz="1400" b="1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12369">
                <a:tc rowSpan="2">
                  <a:txBody>
                    <a:bodyPr/>
                    <a:lstStyle/>
                    <a:p>
                      <a:pPr marL="38100" marR="38100" algn="ctr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Times New Roman"/>
                          <a:ea typeface="Arial"/>
                          <a:cs typeface="Times New Roman"/>
                        </a:rPr>
                        <a:t>Rating Accuracy</a:t>
                      </a:r>
                      <a:endParaRPr lang="en-US" sz="1400" b="1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Times New Roman"/>
                          <a:ea typeface="Arial"/>
                          <a:cs typeface="Times New Roman"/>
                        </a:rPr>
                        <a:t>Android</a:t>
                      </a:r>
                      <a:endParaRPr lang="en-US" sz="1400" b="1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Times New Roman"/>
                          <a:ea typeface="Arial"/>
                          <a:cs typeface="Times New Roman"/>
                        </a:rPr>
                        <a:t>10</a:t>
                      </a:r>
                      <a:endParaRPr lang="en-US" sz="1400" b="1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Times New Roman"/>
                          <a:ea typeface="Arial"/>
                          <a:cs typeface="Times New Roman"/>
                        </a:rPr>
                        <a:t>87.67</a:t>
                      </a:r>
                      <a:endParaRPr lang="en-US" sz="1400" b="1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Times New Roman"/>
                          <a:ea typeface="Arial"/>
                          <a:cs typeface="Times New Roman"/>
                        </a:rPr>
                        <a:t>3.310</a:t>
                      </a:r>
                      <a:endParaRPr lang="en-US" sz="1400" b="1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Times New Roman"/>
                          <a:ea typeface="Arial"/>
                          <a:cs typeface="Times New Roman"/>
                        </a:rPr>
                        <a:t>.956</a:t>
                      </a:r>
                      <a:endParaRPr lang="en-US" sz="1400" b="1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123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Times New Roman"/>
                          <a:ea typeface="Arial"/>
                          <a:cs typeface="Times New Roman"/>
                        </a:rPr>
                        <a:t>iOS</a:t>
                      </a:r>
                      <a:endParaRPr lang="en-US" sz="1400" b="1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Times New Roman"/>
                          <a:ea typeface="Arial"/>
                          <a:cs typeface="Times New Roman"/>
                        </a:rPr>
                        <a:t>10</a:t>
                      </a:r>
                      <a:endParaRPr lang="en-US" sz="1400" b="1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Times New Roman"/>
                          <a:ea typeface="Arial"/>
                          <a:cs typeface="Times New Roman"/>
                        </a:rPr>
                        <a:t>93.00</a:t>
                      </a:r>
                      <a:endParaRPr lang="en-US" sz="1400" b="1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Times New Roman"/>
                          <a:ea typeface="Arial"/>
                          <a:cs typeface="Times New Roman"/>
                        </a:rPr>
                        <a:t>1.954</a:t>
                      </a:r>
                      <a:endParaRPr lang="en-US" sz="1400" b="1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Times New Roman"/>
                          <a:ea typeface="Arial"/>
                          <a:cs typeface="Times New Roman"/>
                        </a:rPr>
                        <a:t>.564</a:t>
                      </a:r>
                      <a:endParaRPr lang="en-US" sz="1400" b="1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1052</TotalTime>
  <Words>663</Words>
  <Application>Microsoft Office PowerPoint</Application>
  <PresentationFormat>Custom</PresentationFormat>
  <Paragraphs>112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Ganesh Moorthy</dc:creator>
  <cp:lastModifiedBy>ICON</cp:lastModifiedBy>
  <cp:revision>97</cp:revision>
  <dcterms:created xsi:type="dcterms:W3CDTF">2023-04-19T08:35:00Z</dcterms:created>
  <dcterms:modified xsi:type="dcterms:W3CDTF">2024-04-15T08:23:44Z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653EA4DDE9264B7BBFB9647507C2B0E8</vt:lpwstr>
  </property>
  <property fmtid="{D5CDD505-2E9C-101B-9397-08002B2CF9AE}" pid="3" name="KSOProductBuildVer">
    <vt:lpwstr>1033-12.2.0.13489</vt:lpwstr>
  </property>
</Properties>
</file>